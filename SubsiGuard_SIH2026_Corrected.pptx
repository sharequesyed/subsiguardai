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6" d="100"/>
          <a:sy n="46"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SubsiGuard student prototype proposal for SIH26025. Official problem-statement title and team details retained from the supplied deck. Team ID awaits assignment.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design, not a demonstrated field safety system. 100 Hz is local sensor acquisition; 1 Hz feature/status telemetry is a prototype target subject to packet size, spreading factor, duty/access rules, number of hops and network load. Raw 100 Hz streams are not sent continuously over LoRa. Sources: https://www.dot.gov.in/static/uploads/2025/07/84f33f09e137fa81930f44bcd5f2d238.pdf</a:t>
            </a:r>
          </a:p>
          <a:p>
            <a:r>
              <a:t>https://www.isro.gov.in/ISRO_EN/PSLVC56_DS_SAR_Mission.html?timeline=timeline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Sensor nodes are on the surface above underground coal mine panels. A wired extensometer/string potentiometer across selected anchored point pairs measures relative displacement; RSSI is only a radio-link indicator. Anti-alias filtering and calibrated sensor bandwidth must match the sampling rate. Train/test Random Forest on separate controlled/simulated runs to avoid leakage, then validate false positives/negatives on mine data. Saito creep forecasting and Fukuzono inverse velocity are physics-based methods originally investigated for slopes; transfer to mine subsidence is a hypothesis requiring field validation. Show no failure window when trend quality is inadequate. Knothe parameters require mine geometry, geology and measured calibration. An independent ESP32 threshold path provides node buzzer/LED indication even if RF, ML or backend fails. Gateway threshold relay needs power and received readings; node alarm is the fallback during link failure. Sources: https://doi.org/10.24425/gsm.2023.148164</a:t>
            </a:r>
          </a:p>
          <a:p>
            <a:r>
              <a:t>https://www.issmge.org/uploads/publications/1/39/1965_02_0116.pdf</a:t>
            </a:r>
          </a:p>
          <a:p>
            <a:r>
              <a:t>https://doi.org/10.3313/jls1964.22.2_8</a:t>
            </a:r>
          </a:p>
          <a:p>
            <a:r>
              <a:t>https://www.dot.gov.in/static/uploads/2025/07/84f33f09e137fa81930f44bcd5f2d238.pdf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₹2,100 is the original proposal’s estimated prototype node cost, not a verified quotation or complete system cost. Validate an itemized BOM including sensing, radio, power and enclosure before procurement. Measure energy consumption under sensing, relay, retransmission and alarm load. Buffer duration depends on storage capacity and record size. Weather rating and operating range require tests. Deployment costs include gateway, anchors, survey/calibration, installation and maintenance. Source: https://www.dot.gov.in/static/uploads/2025/07/84f33f09e137fa81930f44bcd5f2d238.pdf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benefits require a validated deployment and trained operator response. No quantified deaths avoided, savings, evacuation lead time or compliance certification is claimed. Reporting alignment does not replace statutory duties, permission or site-specific engineering review. CMR 2017 cited by correct title and regulation headings; verify applicable amendments and permissions at deployment. Sources: https://www.dgms.gov.in/writereaddata/UploadFile/Coal_Mines_Regulation_2017_Noti.pdf</a:t>
            </a:r>
          </a:p>
          <a:p>
            <a:r>
              <a:t>https://coal.gov.in/sites/default/files/2025-07/PIB2139495.pdf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DGMS / Ministry of Labour &amp; Employment (2017): The Coal Mines Regulations, 2017. Reg. 111: Development work. Reg. 112: Depillaring operations. Official Gazette text.</a:t>
            </a:r>
          </a:p>
          <a:p>
            <a:r>
              <a:t>https://www.dgms.gov.in/writereaddata/UploadFile/Coal_Mines_Regulation_2017_Noti.pdf</a:t>
            </a:r>
          </a:p>
          <a:p>
            <a:endParaRPr/>
          </a:p>
          <a:p>
            <a:r>
              <a:t>[2] Ministry of Coal (25 June 2025): Cabinet approval of the Revised Jharia Master Plan for fire, subsidence and rehabilitation. Release ID 2139495.</a:t>
            </a:r>
          </a:p>
          <a:p>
            <a:r>
              <a:t>https://coal.gov.in/sites/default/files/2025-07/PIB2139495.pdf</a:t>
            </a:r>
          </a:p>
          <a:p>
            <a:endParaRPr/>
          </a:p>
          <a:p>
            <a:r>
              <a:t>[3] Misa, R. (2023): Knothe’s theory parameters – computational models and examples of practical applications. Mineral Resources Management 39(4), 157–180. DOI: 10.24425/gsm.2023.148164.</a:t>
            </a:r>
          </a:p>
          <a:p>
            <a:r>
              <a:t>https://doi.org/10.24425/gsm.2023.148164</a:t>
            </a:r>
          </a:p>
          <a:p>
            <a:endParaRPr/>
          </a:p>
          <a:p>
            <a:r>
              <a:t>[4] Saito, M. (1965): Forecasting the Time of Occurrence of a Slope Failure. Proceedings, 6th ICSMFE, Montréal, Vol. 2, pp. 537–541. ISSMGE archive.</a:t>
            </a:r>
          </a:p>
          <a:p>
            <a:r>
              <a:t>https://www.issmge.org/uploads/publications/1/39/1965_02_0116.pdf</a:t>
            </a:r>
          </a:p>
          <a:p>
            <a:endParaRPr/>
          </a:p>
          <a:p>
            <a:r>
              <a:t>[5] Fukuzono, T. (1985): A Method to Predict the Time of Slope Failure Caused by Rainfall Using the Inverse Number of Velocity of Surface Displacement. Landslides 22(2), 8–13. DOI: 10.3313/jls1964.22.2_8.</a:t>
            </a:r>
          </a:p>
          <a:p>
            <a:r>
              <a:t>https://doi.org/10.3313/jls1964.22.2_8</a:t>
            </a:r>
          </a:p>
          <a:p>
            <a:endParaRPr/>
          </a:p>
          <a:p>
            <a:r>
              <a:t>[6] Department of Telecommunications / WPC (2021): Use of Low Power Equipment in the Frequency Band 865–868 MHz for Short Range Devices (Exemption from Licence) Rules, 2021. G.S.R. 853(E), 10 December 2021.</a:t>
            </a:r>
          </a:p>
          <a:p>
            <a:r>
              <a:t>https://www.dot.gov.in/static/uploads/2025/07/84f33f09e137fa81930f44bcd5f2d238.pdf</a:t>
            </a:r>
          </a:p>
          <a:p>
            <a:endParaRPr/>
          </a:p>
          <a:p>
            <a:r>
              <a:t>[7] ISRO (2023): PSLV-C56 / DS-SAR Mission. Official mission description confirms all-weather, day-and-night SAR coverage.</a:t>
            </a:r>
          </a:p>
          <a:p>
            <a:r>
              <a:t>https://www.isro.gov.in/ISRO_EN/PSLVC56_DS_SAR_Mission.html?timeline=timeline</a:t>
            </a:r>
          </a:p>
          <a:p>
            <a:endParaRPr/>
          </a:p>
          <a:p>
            <a:r>
              <a:t>Saito/Fukuzono slope literature supports candidate trend methods, not proof of mine-subsidence forecast accuracy. The Knothe reference is a verified review of the theory rather than the unverified 1957 citation in the source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A938D-D55A-4718-88BC-8F167F3EAA68}"/>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3E580936-924D-4333-8510-B62AE8C36E93}"/>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C2E9F02C-E155-42C2-9A16-AAC721267C87}"/>
              </a:ext>
            </a:extLst>
          </p:cNvPr>
          <p:cNvSpPr>
            <a:spLocks noGrp="1"/>
          </p:cNvSpPr>
          <p:nvPr>
            <p:ph type="dt" idx="10"/>
          </p:nvPr>
        </p:nvSpPr>
        <p:spPr/>
        <p:txBody>
          <a:body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1A8F1255-3566-4D7D-AF66-A3886E9CA5E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EBA0B38-0DD6-440F-8581-5E036B35802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1A88C-7489-42BC-87D7-4AEFB474B8D7}"/>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8572BFD-581F-4748-905F-C1E7617F0E8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E64B0FE-1A04-48CA-AB20-5596C6F24562}"/>
              </a:ext>
            </a:extLst>
          </p:cNvPr>
          <p:cNvSpPr>
            <a:spLocks noGrp="1"/>
          </p:cNvSpPr>
          <p:nvPr>
            <p:ph type="dt" idx="10"/>
          </p:nvPr>
        </p:nvSpPr>
        <p:spPr/>
        <p:txBody>
          <a:body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B608A8B8-41FE-4FB7-B69F-C1BA9F84F79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6DFD8D9-1E77-4C43-8B3B-CB681672EF5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F107-E05D-4479-95C7-2BCDE6BD24C1}"/>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635DE3E8-9358-4544-B1ED-ED5371A813BF}"/>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62F05408-0F4A-4E2E-A56F-054B567175D7}"/>
              </a:ext>
            </a:extLst>
          </p:cNvPr>
          <p:cNvSpPr>
            <a:spLocks noGrp="1"/>
          </p:cNvSpPr>
          <p:nvPr>
            <p:ph type="dt" idx="10"/>
          </p:nvPr>
        </p:nvSpPr>
        <p:spPr/>
        <p:txBody>
          <a:body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16DF4917-42D0-4EDF-B500-9F1C8FF2179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AC83593-5A44-4010-AC1B-886686617E3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4DC67-7F1C-41B2-91A1-58D54ADAD04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D133966-4621-4774-A9C3-762FCE23181C}"/>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EC199DC-BD94-44CA-B8A7-6C8B8DE5B37B}"/>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FA09D7F8-1F6B-4475-A1C1-DE04D01C3067}"/>
              </a:ext>
            </a:extLst>
          </p:cNvPr>
          <p:cNvSpPr>
            <a:spLocks noGrp="1"/>
          </p:cNvSpPr>
          <p:nvPr>
            <p:ph type="dt" idx="10"/>
          </p:nvPr>
        </p:nvSpPr>
        <p:spPr/>
        <p:txBody>
          <a:bodyPr/>
          <a:lstStyle/>
          <a:p>
            <a:fld id="{5BCAD085-E8A6-8845-BD4E-CB4CCA059FC4}" type="datetimeFigureOut">
              <a:t>11/09/2026</a:t>
            </a:fld>
            <a:endParaRPr/>
          </a:p>
        </p:txBody>
      </p:sp>
      <p:sp>
        <p:nvSpPr>
          <p:cNvPr id="6" name="Footer Placeholder 5">
            <a:extLst>
              <a:ext uri="{FF2B5EF4-FFF2-40B4-BE49-F238E27FC236}">
                <a16:creationId xmlns:a16="http://schemas.microsoft.com/office/drawing/2014/main" id="{019402E4-59AB-4C4E-947B-C5AB2423472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B9C361B-9988-47D4-A46A-2BFEE9883C5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2D41-25EC-4F94-8B71-C5CF21F0021B}"/>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03966B8-3E4A-4723-B29B-169486695688}"/>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BE21082D-2625-47A7-AF28-8776071431E1}"/>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EC19B856-E7F8-4E44-BC86-B22DB674F242}"/>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F3CFA5E5-6B93-471D-9A39-91AFB4077331}"/>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4B0D92BA-EF76-4D6E-AD2F-1DCAF3181C00}"/>
              </a:ext>
            </a:extLst>
          </p:cNvPr>
          <p:cNvSpPr>
            <a:spLocks noGrp="1"/>
          </p:cNvSpPr>
          <p:nvPr>
            <p:ph type="dt" idx="10"/>
          </p:nvPr>
        </p:nvSpPr>
        <p:spPr/>
        <p:txBody>
          <a:bodyPr/>
          <a:lstStyle/>
          <a:p>
            <a:fld id="{5BCAD085-E8A6-8845-BD4E-CB4CCA059FC4}" type="datetimeFigureOut">
              <a:t>11/09/2026</a:t>
            </a:fld>
            <a:endParaRPr/>
          </a:p>
        </p:txBody>
      </p:sp>
      <p:sp>
        <p:nvSpPr>
          <p:cNvPr id="8" name="Footer Placeholder 7">
            <a:extLst>
              <a:ext uri="{FF2B5EF4-FFF2-40B4-BE49-F238E27FC236}">
                <a16:creationId xmlns:a16="http://schemas.microsoft.com/office/drawing/2014/main" id="{62160DE0-16F6-4CE9-8370-C1786A2EEE1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7F6B3C8-B32D-44FF-8F9C-D007D83EE28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0415A-FB58-48BF-AD01-13D1999A8A3F}"/>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C8F0CDB-4CEC-4D8E-A5AD-F0AA36FC082C}"/>
              </a:ext>
            </a:extLst>
          </p:cNvPr>
          <p:cNvSpPr>
            <a:spLocks noGrp="1"/>
          </p:cNvSpPr>
          <p:nvPr>
            <p:ph type="dt" idx="10"/>
          </p:nvPr>
        </p:nvSpPr>
        <p:spPr/>
        <p:txBody>
          <a:bodyPr/>
          <a:lstStyle/>
          <a:p>
            <a:fld id="{5BCAD085-E8A6-8845-BD4E-CB4CCA059FC4}" type="datetimeFigureOut">
              <a:t>11/09/2026</a:t>
            </a:fld>
            <a:endParaRPr/>
          </a:p>
        </p:txBody>
      </p:sp>
      <p:sp>
        <p:nvSpPr>
          <p:cNvPr id="4" name="Footer Placeholder 3">
            <a:extLst>
              <a:ext uri="{FF2B5EF4-FFF2-40B4-BE49-F238E27FC236}">
                <a16:creationId xmlns:a16="http://schemas.microsoft.com/office/drawing/2014/main" id="{A5D3F3C7-6F27-4B28-B9D2-4CD56D074EDA}"/>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512C429-406D-4BD7-80DD-DB4725DFFE4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B2FCEB-0224-42BD-8551-A076398D3D65}"/>
              </a:ext>
            </a:extLst>
          </p:cNvPr>
          <p:cNvSpPr>
            <a:spLocks noGrp="1"/>
          </p:cNvSpPr>
          <p:nvPr>
            <p:ph type="dt" idx="10"/>
          </p:nvPr>
        </p:nvSpPr>
        <p:spPr/>
        <p:txBody>
          <a:bodyPr/>
          <a:lstStyle/>
          <a:p>
            <a:fld id="{5BCAD085-E8A6-8845-BD4E-CB4CCA059FC4}" type="datetimeFigureOut">
              <a:t>11/09/2026</a:t>
            </a:fld>
            <a:endParaRPr/>
          </a:p>
        </p:txBody>
      </p:sp>
      <p:sp>
        <p:nvSpPr>
          <p:cNvPr id="3" name="Footer Placeholder 2">
            <a:extLst>
              <a:ext uri="{FF2B5EF4-FFF2-40B4-BE49-F238E27FC236}">
                <a16:creationId xmlns:a16="http://schemas.microsoft.com/office/drawing/2014/main" id="{F4532560-EEEC-4DC1-A294-32125FFBE53E}"/>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9842A947-FA36-49EF-8858-1CCE9884B90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35AC-1985-4C26-8B57-FC63372ABC72}"/>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1A716156-E8D1-4A51-8B76-96CAACEF3930}"/>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D5CBD65C-6DAA-4EC8-9B83-12579B6B500E}"/>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EB735E87-1580-4000-ACC7-4BE39E905724}"/>
              </a:ext>
            </a:extLst>
          </p:cNvPr>
          <p:cNvSpPr>
            <a:spLocks noGrp="1"/>
          </p:cNvSpPr>
          <p:nvPr>
            <p:ph type="dt" idx="10"/>
          </p:nvPr>
        </p:nvSpPr>
        <p:spPr/>
        <p:txBody>
          <a:bodyPr/>
          <a:lstStyle/>
          <a:p>
            <a:fld id="{5BCAD085-E8A6-8845-BD4E-CB4CCA059FC4}" type="datetimeFigureOut">
              <a:t>11/09/2026</a:t>
            </a:fld>
            <a:endParaRPr/>
          </a:p>
        </p:txBody>
      </p:sp>
      <p:sp>
        <p:nvSpPr>
          <p:cNvPr id="6" name="Footer Placeholder 5">
            <a:extLst>
              <a:ext uri="{FF2B5EF4-FFF2-40B4-BE49-F238E27FC236}">
                <a16:creationId xmlns:a16="http://schemas.microsoft.com/office/drawing/2014/main" id="{6954B5F7-73D4-435D-985E-65DD41C2EAF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60BAEFF-8B5E-4459-A19C-EB308AC289E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D8CD7-D52A-41B7-B3A0-FFC482F7A039}"/>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9E8FC54F-6D64-4DCE-8D44-CE5D03904A05}"/>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7C8FACB5-97E8-44A0-9A3B-111775E767D7}"/>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9D8264E9-24D0-4AD8-A032-4E7293BBCC0D}"/>
              </a:ext>
            </a:extLst>
          </p:cNvPr>
          <p:cNvSpPr>
            <a:spLocks noGrp="1"/>
          </p:cNvSpPr>
          <p:nvPr>
            <p:ph type="dt" idx="10"/>
          </p:nvPr>
        </p:nvSpPr>
        <p:spPr/>
        <p:txBody>
          <a:bodyPr/>
          <a:lstStyle/>
          <a:p>
            <a:fld id="{5BCAD085-E8A6-8845-BD4E-CB4CCA059FC4}" type="datetimeFigureOut">
              <a:t>11/09/2026</a:t>
            </a:fld>
            <a:endParaRPr/>
          </a:p>
        </p:txBody>
      </p:sp>
      <p:sp>
        <p:nvSpPr>
          <p:cNvPr id="6" name="Footer Placeholder 5">
            <a:extLst>
              <a:ext uri="{FF2B5EF4-FFF2-40B4-BE49-F238E27FC236}">
                <a16:creationId xmlns:a16="http://schemas.microsoft.com/office/drawing/2014/main" id="{BCF8EFD1-2CFC-46E1-AA40-877A9C7514D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FEC7660-E9E2-4C35-8974-80639EB0626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7041-73FC-46C0-A687-F79C94C589B4}"/>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B9B226D4-E25F-4258-A698-B98C55E310C6}"/>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B09AF44-F056-42D6-B65D-0C54A7E2DF38}"/>
              </a:ext>
            </a:extLst>
          </p:cNvPr>
          <p:cNvSpPr>
            <a:spLocks noGrp="1"/>
          </p:cNvSpPr>
          <p:nvPr>
            <p:ph type="dt" idx="10"/>
          </p:nvPr>
        </p:nvSpPr>
        <p:spPr/>
        <p:txBody>
          <a:body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306C3D66-ABB4-4725-BF4C-AE58547CD79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1099CBE-64ED-4865-8BED-FEC3174DE95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371C00-2DEE-4171-B425-EB2934D9184B}"/>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EF78A3F2-0237-44EC-AE90-CBB71C60B61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ED6EA5F-A039-41EF-A025-975272E0FBB2}"/>
              </a:ext>
            </a:extLst>
          </p:cNvPr>
          <p:cNvSpPr>
            <a:spLocks noGrp="1"/>
          </p:cNvSpPr>
          <p:nvPr>
            <p:ph type="dt" idx="10"/>
          </p:nvPr>
        </p:nvSpPr>
        <p:spPr/>
        <p:txBody>
          <a:body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B6FC2004-9FB3-4640-873A-32A151417E6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2077257-3159-415D-B84D-69A26873298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2C8ACE-E0D8-4C54-A06A-07E25E386D9F}"/>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E343DC33-CA55-44B8-B2F6-12EE1C00F561}"/>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358494E-75B8-4644-92F9-72D0A5D56A41}"/>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87CADF50-447C-470F-99C9-A65E9A3001C9}"/>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E9E638DB-3C65-4F96-9922-CE35DD9951A8}"/>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hyperlink" Target="https://doi.org/10.3313/jls1964.22.2_8" TargetMode="External"/><Relationship Id="rId3" Type="http://schemas.openxmlformats.org/officeDocument/2006/relationships/image" Target="../media/image3.png"/><Relationship Id="rId7" Type="http://schemas.openxmlformats.org/officeDocument/2006/relationships/hyperlink" Target="https://www.issmge.org/uploads/publications/1/39/1965_02_0116.pdf"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hyperlink" Target="https://doi.org/10.24425/gsm.2023.148164" TargetMode="External"/><Relationship Id="rId5" Type="http://schemas.openxmlformats.org/officeDocument/2006/relationships/hyperlink" Target="https://coal.gov.in/sites/default/files/2025-07/PIB2139495.pdf" TargetMode="External"/><Relationship Id="rId10" Type="http://schemas.openxmlformats.org/officeDocument/2006/relationships/hyperlink" Target="https://www.isro.gov.in/ISRO_EN/PSLVC56_DS_SAR_Mission.html?timeline=timeline" TargetMode="External"/><Relationship Id="rId4" Type="http://schemas.openxmlformats.org/officeDocument/2006/relationships/hyperlink" Target="https://www.dgms.gov.in/writereaddata/UploadFile/Coal_Mines_Regulation_2017_Noti.pdf" TargetMode="External"/><Relationship Id="rId9" Type="http://schemas.openxmlformats.org/officeDocument/2006/relationships/hyperlink" Target="https://www.dot.gov.in/static/uploads/2025/07/84f33f09e137fa81930f44bcd5f2d238.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reeform: Shape 26">
            <a:extLst>
              <a:ext uri="{FF2B5EF4-FFF2-40B4-BE49-F238E27FC236}">
                <a16:creationId xmlns:a16="http://schemas.microsoft.com/office/drawing/2014/main" id="{C04BE0EF-3561-49B4-9A29-F283168A91C7}"/>
              </a:ext>
            </a:extLst>
          </p:cNvPr>
          <p:cNvSpPr>
            <a:spLocks noGrp="1"/>
          </p:cNvSpPr>
          <p:nvPr/>
        </p:nvSpPr>
        <p:spPr>
          <a:xfrm>
            <a:off x="11330092" y="1534449"/>
            <a:ext cx="6957908" cy="7732451"/>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sz="2700"/>
          </a:p>
        </p:txBody>
      </p:sp>
      <p:pic>
        <p:nvPicPr>
          <p:cNvPr id="51" name="Picture 4"/>
          <p:cNvPicPr>
            <a:picLocks noChangeAspect="1"/>
          </p:cNvPicPr>
          <p:nvPr/>
        </p:nvPicPr>
        <p:blipFill rotWithShape="1">
          <a:blip r:embed="rId3"/>
          <a:srcRect r="59916"/>
          <a:stretch/>
        </p:blipFill>
        <p:spPr>
          <a:xfrm>
            <a:off x="13154417" y="3279127"/>
            <a:ext cx="4805264" cy="5139356"/>
          </a:xfrm>
          <a:prstGeom prst="rect">
            <a:avLst/>
          </a:prstGeom>
        </p:spPr>
      </p:pic>
      <p:pic>
        <p:nvPicPr>
          <p:cNvPr id="52" name="Picture 1"/>
          <p:cNvPicPr>
            <a:picLocks noChangeAspect="1"/>
          </p:cNvPicPr>
          <p:nvPr/>
        </p:nvPicPr>
        <p:blipFill>
          <a:blip r:embed="rId4"/>
          <a:stretch>
            <a:fillRect/>
          </a:stretch>
        </p:blipFill>
        <p:spPr>
          <a:xfrm>
            <a:off x="14670129" y="2251"/>
            <a:ext cx="3374775" cy="1593506"/>
          </a:xfrm>
          <a:prstGeom prst="rect">
            <a:avLst/>
          </a:prstGeom>
        </p:spPr>
      </p:pic>
      <p:sp>
        <p:nvSpPr>
          <p:cNvPr id="40" name="Rectangle 39">
            <a:extLst>
              <a:ext uri="{FF2B5EF4-FFF2-40B4-BE49-F238E27FC236}">
                <a16:creationId xmlns:a16="http://schemas.microsoft.com/office/drawing/2014/main" id="{BD7AB7FA-DED4-4148-B167-ED0307EA7B89}"/>
              </a:ext>
            </a:extLst>
          </p:cNvPr>
          <p:cNvSpPr>
            <a:spLocks noGrp="1"/>
          </p:cNvSpPr>
          <p:nvPr/>
        </p:nvSpPr>
        <p:spPr>
          <a:xfrm>
            <a:off x="3762663" y="268166"/>
            <a:ext cx="10762673" cy="1028700"/>
          </a:xfrm>
          <a:prstGeom prst="rect">
            <a:avLst/>
          </a:prstGeom>
          <a:noFill/>
          <a:ln w="0">
            <a:noFill/>
          </a:ln>
        </p:spPr>
        <p:txBody>
          <a:bodyPr anchor="ctr">
            <a:noAutofit/>
          </a:bodyPr>
          <a:lstStyle/>
          <a:p>
            <a:pPr>
              <a:buNone/>
              <a:defRPr sz="3450" b="1">
                <a:solidFill>
                  <a:srgbClr val="214E80"/>
                </a:solidFill>
                <a:latin typeface="Times New Roman"/>
                <a:ea typeface="Times New Roman"/>
                <a:cs typeface="Times New Roman"/>
              </a:defRPr>
            </a:pPr>
            <a:r>
              <a:rPr sz="5175" b="1">
                <a:solidFill>
                  <a:srgbClr val="214E80"/>
                </a:solidFill>
                <a:latin typeface="Garamond"/>
                <a:ea typeface="Garamond"/>
                <a:cs typeface="Garamond"/>
              </a:rPr>
              <a:t>SMART INDIA HACKATHON 2026</a:t>
            </a:r>
          </a:p>
        </p:txBody>
      </p:sp>
      <p:sp>
        <p:nvSpPr>
          <p:cNvPr id="41" name="Rectangle 40">
            <a:extLst>
              <a:ext uri="{FF2B5EF4-FFF2-40B4-BE49-F238E27FC236}">
                <a16:creationId xmlns:a16="http://schemas.microsoft.com/office/drawing/2014/main" id="{2FD5D681-D291-4C79-B194-B59A0944BD1F}"/>
              </a:ext>
            </a:extLst>
          </p:cNvPr>
          <p:cNvSpPr>
            <a:spLocks noGrp="1"/>
          </p:cNvSpPr>
          <p:nvPr/>
        </p:nvSpPr>
        <p:spPr>
          <a:xfrm>
            <a:off x="419100" y="1814513"/>
            <a:ext cx="9429750" cy="1143000"/>
          </a:xfrm>
          <a:prstGeom prst="rect">
            <a:avLst/>
          </a:prstGeom>
          <a:noFill/>
          <a:ln w="0">
            <a:noFill/>
          </a:ln>
        </p:spPr>
        <p:txBody>
          <a:bodyPr anchor="ctr">
            <a:noAutofit/>
          </a:bodyPr>
          <a:lstStyle/>
          <a:p>
            <a:pPr>
              <a:buNone/>
              <a:defRPr sz="4500" b="1">
                <a:solidFill>
                  <a:srgbClr val="214E80"/>
                </a:solidFill>
                <a:latin typeface="Times New Roman"/>
                <a:ea typeface="Times New Roman"/>
                <a:cs typeface="Times New Roman"/>
              </a:defRPr>
            </a:pPr>
            <a:r>
              <a:rPr sz="6750" b="1">
                <a:solidFill>
                  <a:srgbClr val="214E80"/>
                </a:solidFill>
                <a:latin typeface="Times New Roman"/>
                <a:ea typeface="Times New Roman"/>
                <a:cs typeface="Times New Roman"/>
              </a:rPr>
              <a:t>SubsiGuard</a:t>
            </a:r>
          </a:p>
        </p:txBody>
      </p:sp>
      <p:sp>
        <p:nvSpPr>
          <p:cNvPr id="42" name="Rectangle 41">
            <a:extLst>
              <a:ext uri="{FF2B5EF4-FFF2-40B4-BE49-F238E27FC236}">
                <a16:creationId xmlns:a16="http://schemas.microsoft.com/office/drawing/2014/main" id="{14951E43-E21C-48D0-9E82-28FE790E8EE7}"/>
              </a:ext>
            </a:extLst>
          </p:cNvPr>
          <p:cNvSpPr>
            <a:spLocks noGrp="1"/>
          </p:cNvSpPr>
          <p:nvPr/>
        </p:nvSpPr>
        <p:spPr>
          <a:xfrm>
            <a:off x="419100" y="2928938"/>
            <a:ext cx="9001125" cy="714375"/>
          </a:xfrm>
          <a:prstGeom prst="rect">
            <a:avLst/>
          </a:prstGeom>
          <a:noFill/>
          <a:ln w="0">
            <a:noFill/>
          </a:ln>
        </p:spPr>
        <p:txBody>
          <a:bodyPr anchor="ctr">
            <a:noAutofit/>
          </a:bodyPr>
          <a:lstStyle/>
          <a:p>
            <a:pPr>
              <a:buNone/>
              <a:defRPr sz="2025" b="0">
                <a:solidFill>
                  <a:srgbClr val="526879"/>
                </a:solidFill>
                <a:latin typeface="Arial"/>
                <a:ea typeface="Arial"/>
                <a:cs typeface="Arial"/>
              </a:defRPr>
            </a:pPr>
            <a:r>
              <a:rPr sz="3038">
                <a:solidFill>
                  <a:srgbClr val="526879"/>
                </a:solidFill>
                <a:latin typeface="Arial"/>
                <a:ea typeface="Arial"/>
                <a:cs typeface="Arial"/>
              </a:rPr>
              <a:t>Mine subsidence monitoring &amp; early warning</a:t>
            </a:r>
          </a:p>
        </p:txBody>
      </p:sp>
      <p:sp>
        <p:nvSpPr>
          <p:cNvPr id="43" name="Rectangle 42">
            <a:extLst>
              <a:ext uri="{FF2B5EF4-FFF2-40B4-BE49-F238E27FC236}">
                <a16:creationId xmlns:a16="http://schemas.microsoft.com/office/drawing/2014/main" id="{9C31986E-D412-4A5F-9AC0-6C0AD994CB38}"/>
              </a:ext>
            </a:extLst>
          </p:cNvPr>
          <p:cNvSpPr>
            <a:spLocks noGrp="1"/>
          </p:cNvSpPr>
          <p:nvPr/>
        </p:nvSpPr>
        <p:spPr>
          <a:xfrm>
            <a:off x="382268" y="3992808"/>
            <a:ext cx="9001125" cy="628650"/>
          </a:xfrm>
          <a:prstGeom prst="rect">
            <a:avLst/>
          </a:prstGeom>
          <a:noFill/>
          <a:ln w="0">
            <a:noFill/>
          </a:ln>
        </p:spPr>
        <p:txBody>
          <a:bodyPr anchor="ctr">
            <a:noAutofit/>
          </a:bodyPr>
          <a:lstStyle/>
          <a:p>
            <a:pPr>
              <a:buNone/>
              <a:defRPr sz="2100" b="1">
                <a:solidFill>
                  <a:srgbClr val="193247"/>
                </a:solidFill>
                <a:latin typeface="Arial"/>
                <a:ea typeface="Arial"/>
                <a:cs typeface="Arial"/>
              </a:defRPr>
            </a:pPr>
            <a:r>
              <a:rPr sz="3150" b="1">
                <a:solidFill>
                  <a:srgbClr val="193247"/>
                </a:solidFill>
                <a:latin typeface="Arial"/>
                <a:ea typeface="Arial"/>
                <a:cs typeface="Arial"/>
              </a:rPr>
              <a:t>Problem Statement ID:      SIH26025</a:t>
            </a:r>
          </a:p>
        </p:txBody>
      </p:sp>
      <p:sp>
        <p:nvSpPr>
          <p:cNvPr id="44" name="Rectangle 43">
            <a:extLst>
              <a:ext uri="{FF2B5EF4-FFF2-40B4-BE49-F238E27FC236}">
                <a16:creationId xmlns:a16="http://schemas.microsoft.com/office/drawing/2014/main" id="{5D701993-73CB-4F8A-8D3B-51CDBB69AA2A}"/>
              </a:ext>
            </a:extLst>
          </p:cNvPr>
          <p:cNvSpPr>
            <a:spLocks noGrp="1"/>
          </p:cNvSpPr>
          <p:nvPr/>
        </p:nvSpPr>
        <p:spPr>
          <a:xfrm>
            <a:off x="382268" y="4849507"/>
            <a:ext cx="9001125" cy="514350"/>
          </a:xfrm>
          <a:prstGeom prst="rect">
            <a:avLst/>
          </a:prstGeom>
          <a:noFill/>
          <a:ln w="0">
            <a:noFill/>
          </a:ln>
        </p:spPr>
        <p:txBody>
          <a:bodyPr anchor="ctr">
            <a:noAutofit/>
          </a:bodyPr>
          <a:lstStyle/>
          <a:p>
            <a:pPr>
              <a:buNone/>
              <a:defRPr sz="1800" b="1">
                <a:solidFill>
                  <a:srgbClr val="214E80"/>
                </a:solidFill>
                <a:latin typeface="Arial"/>
                <a:ea typeface="Arial"/>
                <a:cs typeface="Arial"/>
              </a:defRPr>
            </a:pPr>
            <a:r>
              <a:rPr sz="3150" b="1">
                <a:solidFill>
                  <a:srgbClr val="214E80"/>
                </a:solidFill>
                <a:latin typeface="Arial"/>
                <a:ea typeface="Arial"/>
                <a:cs typeface="Arial"/>
              </a:rPr>
              <a:t>Problem Statement Title:-</a:t>
            </a:r>
          </a:p>
        </p:txBody>
      </p:sp>
      <p:sp>
        <p:nvSpPr>
          <p:cNvPr id="45" name="Rectangle 44">
            <a:extLst>
              <a:ext uri="{FF2B5EF4-FFF2-40B4-BE49-F238E27FC236}">
                <a16:creationId xmlns:a16="http://schemas.microsoft.com/office/drawing/2014/main" id="{F0851D41-8BCF-409E-B672-BC1D10D05792}"/>
              </a:ext>
            </a:extLst>
          </p:cNvPr>
          <p:cNvSpPr>
            <a:spLocks noGrp="1"/>
          </p:cNvSpPr>
          <p:nvPr/>
        </p:nvSpPr>
        <p:spPr>
          <a:xfrm>
            <a:off x="5405438" y="4757737"/>
            <a:ext cx="7955910" cy="2057400"/>
          </a:xfrm>
          <a:prstGeom prst="rect">
            <a:avLst/>
          </a:prstGeom>
          <a:noFill/>
          <a:ln w="0">
            <a:noFill/>
          </a:ln>
        </p:spPr>
        <p:txBody>
          <a:bodyPr anchor="ctr">
            <a:noAutofit/>
          </a:bodyPr>
          <a:lstStyle/>
          <a:p>
            <a:pPr>
              <a:buNone/>
              <a:defRPr sz="2025" b="0">
                <a:solidFill>
                  <a:srgbClr val="193247"/>
                </a:solidFill>
                <a:latin typeface="Arial"/>
                <a:ea typeface="Arial"/>
                <a:cs typeface="Arial"/>
              </a:defRPr>
            </a:pPr>
            <a:r>
              <a:rPr sz="3038">
                <a:solidFill>
                  <a:srgbClr val="193247"/>
                </a:solidFill>
                <a:latin typeface="Arial"/>
                <a:ea typeface="Arial"/>
                <a:cs typeface="Arial"/>
              </a:rPr>
              <a:t>Development of an AI-enabled Low Cost Real Time Mine Subsidence Monitoring, Prediction and Early Warning System for Underground Coal Mines in India.</a:t>
            </a:r>
          </a:p>
        </p:txBody>
      </p:sp>
      <p:sp>
        <p:nvSpPr>
          <p:cNvPr id="46" name="Rectangle 45">
            <a:extLst>
              <a:ext uri="{FF2B5EF4-FFF2-40B4-BE49-F238E27FC236}">
                <a16:creationId xmlns:a16="http://schemas.microsoft.com/office/drawing/2014/main" id="{54BC8BD7-F660-4548-8DD2-93E769358CBD}"/>
              </a:ext>
            </a:extLst>
          </p:cNvPr>
          <p:cNvSpPr>
            <a:spLocks noGrp="1"/>
          </p:cNvSpPr>
          <p:nvPr/>
        </p:nvSpPr>
        <p:spPr>
          <a:xfrm>
            <a:off x="504825" y="7024140"/>
            <a:ext cx="11187217" cy="1071563"/>
          </a:xfrm>
          <a:prstGeom prst="rect">
            <a:avLst/>
          </a:prstGeom>
          <a:noFill/>
          <a:ln w="0">
            <a:noFill/>
          </a:ln>
        </p:spPr>
        <p:txBody>
          <a:bodyPr anchor="ctr">
            <a:noAutofit/>
          </a:bodyPr>
          <a:lstStyle/>
          <a:p>
            <a:pPr>
              <a:buNone/>
              <a:defRPr sz="1950" b="0">
                <a:solidFill>
                  <a:srgbClr val="193247"/>
                </a:solidFill>
                <a:latin typeface="Arial"/>
                <a:ea typeface="Arial"/>
                <a:cs typeface="Arial"/>
              </a:defRPr>
            </a:pPr>
            <a:r>
              <a:rPr sz="3150" b="1">
                <a:solidFill>
                  <a:srgbClr val="193247"/>
                </a:solidFill>
                <a:latin typeface="Arial"/>
                <a:ea typeface="Arial"/>
                <a:cs typeface="Arial"/>
              </a:rPr>
              <a:t>Theme: </a:t>
            </a:r>
            <a:r>
              <a:rPr sz="3150">
                <a:solidFill>
                  <a:srgbClr val="193247"/>
                </a:solidFill>
                <a:latin typeface="Arial"/>
                <a:ea typeface="Arial"/>
                <a:cs typeface="Arial"/>
              </a:rPr>
              <a:t>							   Smart Automation</a:t>
            </a:r>
          </a:p>
          <a:p>
            <a:pPr>
              <a:buNone/>
              <a:defRPr sz="1950" b="0">
                <a:solidFill>
                  <a:srgbClr val="193247"/>
                </a:solidFill>
                <a:latin typeface="Arial"/>
                <a:ea typeface="Arial"/>
                <a:cs typeface="Arial"/>
              </a:defRPr>
            </a:pPr>
            <a:endParaRPr sz="3150">
              <a:solidFill>
                <a:srgbClr val="193247"/>
              </a:solidFill>
              <a:latin typeface="Arial"/>
              <a:ea typeface="Arial"/>
              <a:cs typeface="Arial"/>
            </a:endParaRPr>
          </a:p>
          <a:p>
            <a:pPr>
              <a:buNone/>
              <a:defRPr sz="1950" b="0">
                <a:solidFill>
                  <a:srgbClr val="193247"/>
                </a:solidFill>
                <a:latin typeface="Arial"/>
                <a:ea typeface="Arial"/>
                <a:cs typeface="Arial"/>
              </a:defRPr>
            </a:pPr>
            <a:r>
              <a:rPr sz="3150" b="1">
                <a:solidFill>
                  <a:srgbClr val="193247"/>
                </a:solidFill>
                <a:latin typeface="Arial"/>
                <a:ea typeface="Arial"/>
                <a:cs typeface="Arial"/>
              </a:rPr>
              <a:t>PS Category: 					   </a:t>
            </a:r>
            <a:r>
              <a:rPr sz="3150">
                <a:solidFill>
                  <a:srgbClr val="193247"/>
                </a:solidFill>
                <a:latin typeface="Arial"/>
                <a:ea typeface="Arial"/>
                <a:cs typeface="Arial"/>
              </a:rPr>
              <a:t>Hardware</a:t>
            </a:r>
          </a:p>
        </p:txBody>
      </p:sp>
      <p:sp>
        <p:nvSpPr>
          <p:cNvPr id="47" name="Rectangle 46">
            <a:extLst>
              <a:ext uri="{FF2B5EF4-FFF2-40B4-BE49-F238E27FC236}">
                <a16:creationId xmlns:a16="http://schemas.microsoft.com/office/drawing/2014/main" id="{AD888CB1-006A-4276-AE09-FA027B1DE981}"/>
              </a:ext>
            </a:extLst>
          </p:cNvPr>
          <p:cNvSpPr>
            <a:spLocks noGrp="1"/>
          </p:cNvSpPr>
          <p:nvPr/>
        </p:nvSpPr>
        <p:spPr>
          <a:xfrm>
            <a:off x="504825" y="8612063"/>
            <a:ext cx="9286875" cy="1071563"/>
          </a:xfrm>
          <a:prstGeom prst="rect">
            <a:avLst/>
          </a:prstGeom>
          <a:noFill/>
          <a:ln w="0">
            <a:noFill/>
          </a:ln>
        </p:spPr>
        <p:txBody>
          <a:bodyPr anchor="ctr">
            <a:noAutofit/>
          </a:bodyPr>
          <a:lstStyle/>
          <a:p>
            <a:pPr>
              <a:buNone/>
              <a:defRPr sz="1875" b="1">
                <a:solidFill>
                  <a:srgbClr val="193247"/>
                </a:solidFill>
                <a:latin typeface="Arial"/>
                <a:ea typeface="Arial"/>
                <a:cs typeface="Arial"/>
              </a:defRPr>
            </a:pPr>
            <a:r>
              <a:rPr sz="3000" b="1">
                <a:solidFill>
                  <a:srgbClr val="193247"/>
                </a:solidFill>
                <a:latin typeface="Roboto Condensed"/>
                <a:ea typeface="Roboto Condensed"/>
                <a:cs typeface="Roboto Condensed"/>
              </a:rPr>
              <a:t>Team Name:  						   MineNova6</a:t>
            </a:r>
          </a:p>
          <a:p>
            <a:pPr>
              <a:buNone/>
              <a:defRPr sz="1875" b="1">
                <a:solidFill>
                  <a:srgbClr val="193247"/>
                </a:solidFill>
                <a:latin typeface="Arial"/>
                <a:ea typeface="Arial"/>
                <a:cs typeface="Arial"/>
              </a:defRPr>
            </a:pPr>
            <a:r>
              <a:rPr sz="3000" b="1">
                <a:solidFill>
                  <a:srgbClr val="193247"/>
                </a:solidFill>
                <a:latin typeface="Roboto Condensed"/>
                <a:ea typeface="Roboto Condensed"/>
                <a:cs typeface="Roboto Condensed"/>
              </a:rPr>
              <a:t>Team ID:  [To be assigned]</a:t>
            </a:r>
          </a:p>
        </p:txBody>
      </p:sp>
    </p:spTree>
    <p:extLst>
      <p:ext uri="{BB962C8B-B14F-4D97-AF65-F5344CB8AC3E}">
        <p14:creationId xmlns:p14="http://schemas.microsoft.com/office/powerpoint/2010/main" val="2667845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001A4724-5D96-4598-BA4A-B5D415FBAFDD}"/>
              </a:ext>
            </a:extLst>
          </p:cNvPr>
          <p:cNvSpPr>
            <a:spLocks noGrp="1"/>
          </p:cNvSpPr>
          <p:nvPr/>
        </p:nvSpPr>
        <p:spPr>
          <a:xfrm>
            <a:off x="731520" y="320040"/>
            <a:ext cx="2011680" cy="1005840"/>
          </a:xfrm>
          <a:prstGeom prst="ellipse">
            <a:avLst/>
          </a:prstGeom>
          <a:solidFill>
            <a:srgbClr val="FFFFFF"/>
          </a:solidFill>
          <a:ln w="31750">
            <a:solidFill>
              <a:srgbClr val="5C2D91"/>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defRPr sz="1300" b="1">
                <a:solidFill>
                  <a:srgbClr val="5C2D91"/>
                </a:solidFill>
                <a:latin typeface="Arial"/>
                <a:ea typeface="Arial"/>
                <a:cs typeface="Arial"/>
              </a:defRPr>
            </a:pPr>
            <a:r>
              <a:t>TEAM</a:t>
            </a:r>
          </a:p>
          <a:p>
            <a:pPr algn="ctr">
              <a:buNone/>
              <a:defRPr sz="1500" b="1">
                <a:solidFill>
                  <a:srgbClr val="5C2D91"/>
                </a:solidFill>
                <a:latin typeface="Arial"/>
                <a:ea typeface="Arial"/>
                <a:cs typeface="Arial"/>
              </a:defRPr>
            </a:pPr>
            <a:r>
              <a:t>MineNova6</a:t>
            </a:r>
          </a:p>
        </p:txBody>
      </p:sp>
      <p:sp>
        <p:nvSpPr>
          <p:cNvPr id="3" name="TextBox 2">
            <a:extLst>
              <a:ext uri="{FF2B5EF4-FFF2-40B4-BE49-F238E27FC236}">
                <a16:creationId xmlns:a16="http://schemas.microsoft.com/office/drawing/2014/main" id="{07435CFD-1BA6-4021-B7DD-53507F27A12F}"/>
              </a:ext>
            </a:extLst>
          </p:cNvPr>
          <p:cNvSpPr>
            <a:spLocks noGrp="1"/>
          </p:cNvSpPr>
          <p:nvPr/>
        </p:nvSpPr>
        <p:spPr>
          <a:xfrm>
            <a:off x="2926080" y="365760"/>
            <a:ext cx="11887200" cy="1005840"/>
          </a:xfrm>
          <a:prstGeom prst="rect">
            <a:avLst/>
          </a:prstGeom>
          <a:noFill/>
        </p:spPr>
        <p:txBody>
          <a:bodyPr wrap="square">
            <a:spAutoFit/>
          </a:bodyPr>
          <a:lstStyle/>
          <a:p>
            <a:pPr algn="ctr">
              <a:buNone/>
              <a:defRPr sz="3600" b="1">
                <a:solidFill>
                  <a:srgbClr val="1F497D"/>
                </a:solidFill>
                <a:latin typeface="Times New Roman"/>
                <a:ea typeface="Times New Roman"/>
                <a:cs typeface="Times New Roman"/>
              </a:defRPr>
            </a:pPr>
            <a:r>
              <a:t>SubsiGuard: Surface Mesh Early Warning System</a:t>
            </a:r>
          </a:p>
        </p:txBody>
      </p:sp>
      <p:pic>
        <p:nvPicPr>
          <p:cNvPr id="15" name="Picture 3"/>
          <p:cNvPicPr>
            <a:picLocks noChangeAspect="1"/>
          </p:cNvPicPr>
          <p:nvPr/>
        </p:nvPicPr>
        <p:blipFill>
          <a:blip r:embed="rId3"/>
          <a:stretch>
            <a:fillRect/>
          </a:stretch>
        </p:blipFill>
        <p:spPr>
          <a:xfrm>
            <a:off x="15179040" y="274320"/>
            <a:ext cx="2560320" cy="1146309"/>
          </a:xfrm>
          <a:prstGeom prst="rect">
            <a:avLst/>
          </a:prstGeom>
        </p:spPr>
      </p:pic>
      <p:sp>
        <p:nvSpPr>
          <p:cNvPr id="5" name="Rectangle 4">
            <a:extLst>
              <a:ext uri="{FF2B5EF4-FFF2-40B4-BE49-F238E27FC236}">
                <a16:creationId xmlns:a16="http://schemas.microsoft.com/office/drawing/2014/main" id="{9043A234-E784-491E-AE1A-B36F4167BD0C}"/>
              </a:ext>
            </a:extLst>
          </p:cNvPr>
          <p:cNvSpPr>
            <a:spLocks noGrp="1"/>
          </p:cNvSpPr>
          <p:nvPr/>
        </p:nvSpPr>
        <p:spPr>
          <a:xfrm>
            <a:off x="0" y="9601200"/>
            <a:ext cx="18288000" cy="685800"/>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D227061-C42F-4850-9032-23A6E2B3CCFC}"/>
              </a:ext>
            </a:extLst>
          </p:cNvPr>
          <p:cNvSpPr>
            <a:spLocks noGrp="1"/>
          </p:cNvSpPr>
          <p:nvPr/>
        </p:nvSpPr>
        <p:spPr>
          <a:xfrm>
            <a:off x="4572000" y="9646920"/>
            <a:ext cx="9144000" cy="594360"/>
          </a:xfrm>
          <a:prstGeom prst="rect">
            <a:avLst/>
          </a:prstGeom>
          <a:noFill/>
        </p:spPr>
        <p:txBody>
          <a:bodyPr wrap="none">
            <a:spAutoFit/>
          </a:bodyPr>
          <a:lstStyle/>
          <a:p>
            <a:pPr algn="ctr">
              <a:buNone/>
              <a:defRPr sz="1500" b="1">
                <a:solidFill>
                  <a:srgbClr val="FFFFFF"/>
                </a:solidFill>
                <a:latin typeface="Arial"/>
                <a:ea typeface="Arial"/>
                <a:cs typeface="Arial"/>
              </a:defRPr>
            </a:pPr>
            <a:r>
              <a:t>@SIH Idea submission- Template</a:t>
            </a:r>
          </a:p>
        </p:txBody>
      </p:sp>
      <p:sp>
        <p:nvSpPr>
          <p:cNvPr id="7" name="TextBox 6">
            <a:extLst>
              <a:ext uri="{FF2B5EF4-FFF2-40B4-BE49-F238E27FC236}">
                <a16:creationId xmlns:a16="http://schemas.microsoft.com/office/drawing/2014/main" id="{5F29B01B-A72D-482C-B434-130EA41218E9}"/>
              </a:ext>
            </a:extLst>
          </p:cNvPr>
          <p:cNvSpPr>
            <a:spLocks noGrp="1"/>
          </p:cNvSpPr>
          <p:nvPr/>
        </p:nvSpPr>
        <p:spPr>
          <a:xfrm>
            <a:off x="16642080" y="9646920"/>
            <a:ext cx="1280160" cy="594360"/>
          </a:xfrm>
          <a:prstGeom prst="rect">
            <a:avLst/>
          </a:prstGeom>
          <a:noFill/>
        </p:spPr>
        <p:txBody>
          <a:bodyPr wrap="none">
            <a:spAutoFit/>
          </a:bodyPr>
          <a:lstStyle/>
          <a:p>
            <a:pPr algn="r">
              <a:buNone/>
              <a:defRPr sz="1600" b="1">
                <a:solidFill>
                  <a:srgbClr val="FFFFFF"/>
                </a:solidFill>
                <a:latin typeface="Arial"/>
                <a:ea typeface="Arial"/>
                <a:cs typeface="Arial"/>
              </a:defRPr>
            </a:pPr>
            <a:r>
              <a:t>2</a:t>
            </a:r>
          </a:p>
        </p:txBody>
      </p:sp>
      <p:sp>
        <p:nvSpPr>
          <p:cNvPr id="8" name="TextBox 7">
            <a:extLst>
              <a:ext uri="{FF2B5EF4-FFF2-40B4-BE49-F238E27FC236}">
                <a16:creationId xmlns:a16="http://schemas.microsoft.com/office/drawing/2014/main" id="{E615C4D7-1DA7-4455-AF70-3C6E9B106EB4}"/>
              </a:ext>
            </a:extLst>
          </p:cNvPr>
          <p:cNvSpPr>
            <a:spLocks noGrp="1"/>
          </p:cNvSpPr>
          <p:nvPr/>
        </p:nvSpPr>
        <p:spPr>
          <a:xfrm>
            <a:off x="731520" y="1463040"/>
            <a:ext cx="16824960" cy="548640"/>
          </a:xfrm>
          <a:prstGeom prst="rect">
            <a:avLst/>
          </a:prstGeom>
          <a:noFill/>
        </p:spPr>
        <p:txBody>
          <a:bodyPr wrap="none">
            <a:spAutoFit/>
          </a:bodyPr>
          <a:lstStyle/>
          <a:p>
            <a:pPr>
              <a:buNone/>
              <a:defRPr sz="2200" b="1" u="sng">
                <a:solidFill>
                  <a:srgbClr val="006FC0"/>
                </a:solidFill>
                <a:latin typeface="Arial"/>
                <a:ea typeface="Arial"/>
                <a:cs typeface="Arial"/>
              </a:defRPr>
            </a:pPr>
            <a:r>
              <a:t>❖ Proposed Solution (Describe your Idea / Solution / Prototype)</a:t>
            </a:r>
          </a:p>
        </p:txBody>
      </p:sp>
      <p:sp>
        <p:nvSpPr>
          <p:cNvPr id="9" name="Rounded Rectangle 8">
            <a:extLst>
              <a:ext uri="{FF2B5EF4-FFF2-40B4-BE49-F238E27FC236}">
                <a16:creationId xmlns:a16="http://schemas.microsoft.com/office/drawing/2014/main" id="{2F1277E9-CA18-402C-9D68-EECF3F25958E}"/>
              </a:ext>
            </a:extLst>
          </p:cNvPr>
          <p:cNvSpPr>
            <a:spLocks noGrp="1"/>
          </p:cNvSpPr>
          <p:nvPr/>
        </p:nvSpPr>
        <p:spPr>
          <a:xfrm>
            <a:off x="731520" y="2148840"/>
            <a:ext cx="8229600" cy="5394960"/>
          </a:xfrm>
          <a:prstGeom prst="roundRect">
            <a:avLst/>
          </a:prstGeom>
          <a:solidFill>
            <a:srgbClr val="F8FAFC"/>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wrap="square" lIns="419100" tIns="228600" rIns="419100" bIns="228600" anchor="ctr">
            <a:noAutofit/>
          </a:bodyPr>
          <a:lstStyle/>
          <a:p>
            <a:pPr algn="l">
              <a:spcAft>
                <a:spcPts val="1400"/>
              </a:spcAft>
              <a:buNone/>
              <a:defRPr sz="1650">
                <a:solidFill>
                  <a:srgbClr val="485A70"/>
                </a:solidFill>
                <a:latin typeface="Arial"/>
                <a:ea typeface="Arial"/>
                <a:cs typeface="Arial"/>
              </a:defRPr>
            </a:pPr>
            <a:r>
              <a:rPr sz="2025" b="1">
                <a:solidFill>
                  <a:srgbClr val="E92424"/>
                </a:solidFill>
              </a:rPr>
              <a:t>EXISTING METHODS &amp; MONITORING GAP</a:t>
            </a:r>
          </a:p>
          <a:p>
            <a:pPr algn="l">
              <a:spcAft>
                <a:spcPts val="1000"/>
              </a:spcAft>
              <a:buNone/>
              <a:defRPr sz="1650">
                <a:solidFill>
                  <a:srgbClr val="485A70"/>
                </a:solidFill>
                <a:latin typeface="Arial"/>
                <a:ea typeface="Arial"/>
                <a:cs typeface="Arial"/>
              </a:defRPr>
            </a:pPr>
            <a:r>
              <a:rPr b="1">
                <a:solidFill>
                  <a:srgbClr val="152036"/>
                </a:solidFill>
              </a:rPr>
              <a:t>Satellite InSAR: </a:t>
            </a:r>
            <a:r>
              <a:rPr b="0">
                <a:solidFill>
                  <a:srgbClr val="485A70"/>
                </a:solidFill>
              </a:rPr>
              <a:t>Radar works through clouds. Periodic revisit and processing cannot provide continuous local telemetry.</a:t>
            </a:r>
          </a:p>
          <a:p>
            <a:pPr algn="l">
              <a:spcAft>
                <a:spcPts val="1000"/>
              </a:spcAft>
              <a:buNone/>
              <a:defRPr sz="1650">
                <a:solidFill>
                  <a:srgbClr val="485A70"/>
                </a:solidFill>
                <a:latin typeface="Arial"/>
                <a:ea typeface="Arial"/>
                <a:cs typeface="Arial"/>
              </a:defRPr>
            </a:pPr>
            <a:r>
              <a:rPr b="1">
                <a:solidFill>
                  <a:srgbClr val="152036"/>
                </a:solidFill>
              </a:rPr>
              <a:t>Optical ground surveys: </a:t>
            </a:r>
            <a:r>
              <a:rPr b="0">
                <a:solidFill>
                  <a:srgbClr val="485A70"/>
                </a:solidFill>
              </a:rPr>
              <a:t>Periodic field observations leave gaps between measurements and may expose surveyors to unstable ground.</a:t>
            </a:r>
          </a:p>
          <a:p>
            <a:pPr algn="l">
              <a:spcAft>
                <a:spcPts val="1000"/>
              </a:spcAft>
              <a:buNone/>
              <a:defRPr sz="1650">
                <a:solidFill>
                  <a:srgbClr val="485A70"/>
                </a:solidFill>
                <a:latin typeface="Arial"/>
                <a:ea typeface="Arial"/>
                <a:cs typeface="Arial"/>
              </a:defRPr>
            </a:pPr>
            <a:r>
              <a:rPr b="1">
                <a:solidFill>
                  <a:srgbClr val="152036"/>
                </a:solidFill>
              </a:rPr>
              <a:t>Microseismic monitoring: </a:t>
            </a:r>
            <a:r>
              <a:rPr b="0">
                <a:solidFill>
                  <a:srgbClr val="485A70"/>
                </a:solidFill>
              </a:rPr>
              <a:t>Tracks seismic activity. Direct surface tilt and displacement sensing provides complementary deformation evidence.</a:t>
            </a:r>
          </a:p>
          <a:p>
            <a:pPr algn="l">
              <a:spcAft>
                <a:spcPts val="1000"/>
              </a:spcAft>
              <a:buNone/>
              <a:defRPr sz="1650">
                <a:solidFill>
                  <a:srgbClr val="485A70"/>
                </a:solidFill>
                <a:latin typeface="Arial"/>
                <a:ea typeface="Arial"/>
                <a:cs typeface="Arial"/>
              </a:defRPr>
            </a:pPr>
            <a:r>
              <a:rPr b="1">
                <a:solidFill>
                  <a:srgbClr val="152036"/>
                </a:solidFill>
              </a:rPr>
              <a:t>Borehole extensometers: </a:t>
            </a:r>
            <a:r>
              <a:rPr b="0">
                <a:solidFill>
                  <a:srgbClr val="485A70"/>
                </a:solidFill>
              </a:rPr>
              <a:t>Measure movement at instrumented locations. Drilling and installation needs vary by site.</a:t>
            </a:r>
          </a:p>
        </p:txBody>
      </p:sp>
      <p:sp>
        <p:nvSpPr>
          <p:cNvPr id="10" name="Rounded Rectangle 9">
            <a:extLst>
              <a:ext uri="{FF2B5EF4-FFF2-40B4-BE49-F238E27FC236}">
                <a16:creationId xmlns:a16="http://schemas.microsoft.com/office/drawing/2014/main" id="{6C71308F-1C8F-4DD2-BB2A-3426F6A8EFB4}"/>
              </a:ext>
            </a:extLst>
          </p:cNvPr>
          <p:cNvSpPr>
            <a:spLocks noGrp="1"/>
          </p:cNvSpPr>
          <p:nvPr/>
        </p:nvSpPr>
        <p:spPr>
          <a:xfrm>
            <a:off x="9326880" y="2148840"/>
            <a:ext cx="8229600" cy="5394960"/>
          </a:xfrm>
          <a:prstGeom prst="round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lIns="419100" tIns="228600" rIns="419100" bIns="228600" anchor="ctr">
            <a:noAutofit/>
          </a:bodyPr>
          <a:lstStyle/>
          <a:p>
            <a:pPr algn="l">
              <a:spcAft>
                <a:spcPts val="1400"/>
              </a:spcAft>
              <a:buNone/>
              <a:defRPr sz="1650">
                <a:solidFill>
                  <a:srgbClr val="485A70"/>
                </a:solidFill>
                <a:latin typeface="Arial"/>
                <a:ea typeface="Arial"/>
                <a:cs typeface="Arial"/>
              </a:defRPr>
            </a:pPr>
            <a:r>
              <a:rPr sz="2025" b="1">
                <a:solidFill>
                  <a:srgbClr val="13A34B"/>
                </a:solidFill>
              </a:rPr>
              <a:t>SUBSIGUARD: LOCALIZED SURFACE MESH</a:t>
            </a:r>
          </a:p>
          <a:p>
            <a:pPr algn="l">
              <a:spcAft>
                <a:spcPts val="1000"/>
              </a:spcAft>
              <a:buNone/>
              <a:defRPr sz="1650">
                <a:solidFill>
                  <a:srgbClr val="485A70"/>
                </a:solidFill>
                <a:latin typeface="Arial"/>
                <a:ea typeface="Arial"/>
                <a:cs typeface="Arial"/>
              </a:defRPr>
            </a:pPr>
            <a:r>
              <a:rPr b="1">
                <a:solidFill>
                  <a:srgbClr val="152036"/>
                </a:solidFill>
              </a:rPr>
              <a:t>Continuous sensing: </a:t>
            </a:r>
            <a:r>
              <a:rPr b="0">
                <a:solidFill>
                  <a:srgbClr val="485A70"/>
                </a:solidFill>
              </a:rPr>
              <a:t>Surface nodes above underground coal mine panels monitor tilt, vibration, relative displacement and cracks.</a:t>
            </a:r>
          </a:p>
          <a:p>
            <a:pPr algn="l">
              <a:spcAft>
                <a:spcPts val="1000"/>
              </a:spcAft>
              <a:buNone/>
              <a:defRPr sz="1650">
                <a:solidFill>
                  <a:srgbClr val="485A70"/>
                </a:solidFill>
                <a:latin typeface="Arial"/>
                <a:ea typeface="Arial"/>
                <a:cs typeface="Arial"/>
              </a:defRPr>
            </a:pPr>
            <a:r>
              <a:rPr b="1">
                <a:solidFill>
                  <a:srgbClr val="152036"/>
                </a:solidFill>
              </a:rPr>
              <a:t>Hybrid analysis: </a:t>
            </a:r>
            <a:r>
              <a:rPr b="0">
                <a:solidFill>
                  <a:srgbClr val="485A70"/>
                </a:solidFill>
              </a:rPr>
              <a:t>100 Hz local sampling and filtering/features feed 1 Hz feature telemetry, Random Forest risk classes and a physics-based trend estimator.</a:t>
            </a:r>
          </a:p>
          <a:p>
            <a:pPr algn="l">
              <a:spcAft>
                <a:spcPts val="1000"/>
              </a:spcAft>
              <a:buNone/>
              <a:defRPr sz="1650">
                <a:solidFill>
                  <a:srgbClr val="485A70"/>
                </a:solidFill>
                <a:latin typeface="Arial"/>
                <a:ea typeface="Arial"/>
                <a:cs typeface="Arial"/>
              </a:defRPr>
            </a:pPr>
            <a:r>
              <a:rPr b="1">
                <a:solidFill>
                  <a:srgbClr val="152036"/>
                </a:solidFill>
              </a:rPr>
              <a:t>Low-cost network: </a:t>
            </a:r>
            <a:r>
              <a:rPr b="0">
                <a:solidFill>
                  <a:srgbClr val="485A70"/>
                </a:solidFill>
              </a:rPr>
              <a:t>Custom multi-hop LoRa P2P mesh in India’s 865–868 MHz band, with local buffering and solar-assisted power.</a:t>
            </a:r>
          </a:p>
          <a:p>
            <a:pPr algn="l">
              <a:spcAft>
                <a:spcPts val="1000"/>
              </a:spcAft>
              <a:buNone/>
              <a:defRPr sz="1650">
                <a:solidFill>
                  <a:srgbClr val="485A70"/>
                </a:solidFill>
                <a:latin typeface="Arial"/>
                <a:ea typeface="Arial"/>
                <a:cs typeface="Arial"/>
              </a:defRPr>
            </a:pPr>
            <a:r>
              <a:rPr b="1">
                <a:solidFill>
                  <a:srgbClr val="152036"/>
                </a:solidFill>
              </a:rPr>
              <a:t>Independent fail-safe: </a:t>
            </a:r>
            <a:r>
              <a:rPr b="0">
                <a:solidFill>
                  <a:srgbClr val="485A70"/>
                </a:solidFill>
              </a:rPr>
              <a:t>ESP32 thresholds trigger local indication. Gateway/local relay siren works without cloud. SMS/app alerts need gateway connectivity.</a:t>
            </a:r>
          </a:p>
        </p:txBody>
      </p:sp>
      <p:sp>
        <p:nvSpPr>
          <p:cNvPr id="11" name="Rounded Rectangle 10">
            <a:extLst>
              <a:ext uri="{FF2B5EF4-FFF2-40B4-BE49-F238E27FC236}">
                <a16:creationId xmlns:a16="http://schemas.microsoft.com/office/drawing/2014/main" id="{406A31C3-9ECC-49E0-8C51-A31B3D4C29A8}"/>
              </a:ext>
            </a:extLst>
          </p:cNvPr>
          <p:cNvSpPr>
            <a:spLocks noGrp="1"/>
          </p:cNvSpPr>
          <p:nvPr/>
        </p:nvSpPr>
        <p:spPr>
          <a:xfrm>
            <a:off x="731520" y="7818120"/>
            <a:ext cx="16824960" cy="1463040"/>
          </a:xfrm>
          <a:prstGeom prst="roundRect">
            <a:avLst/>
          </a:prstGeom>
          <a:solidFill>
            <a:srgbClr val="FEF2F2"/>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wrap="square" lIns="476250" tIns="190500" rIns="476250" bIns="190500" anchor="ctr">
            <a:noAutofit/>
          </a:bodyPr>
          <a:lstStyle/>
          <a:p>
            <a:pPr algn="ctr">
              <a:spcAft>
                <a:spcPts val="500"/>
              </a:spcAft>
            </a:pPr>
            <a:r>
              <a:rPr sz="1875" b="1">
                <a:solidFill>
                  <a:srgbClr val="E92424"/>
                </a:solidFill>
              </a:rPr>
              <a:t>THE CRITICAL GAP IDENTIFIED</a:t>
            </a:r>
          </a:p>
          <a:p>
            <a:pPr algn="ctr"/>
            <a:r>
              <a:rPr sz="2100" b="1">
                <a:solidFill>
                  <a:srgbClr val="234F86"/>
                </a:solidFill>
                <a:latin typeface="Times New Roman"/>
                <a:ea typeface="Times New Roman"/>
                <a:cs typeface="Times New Roman"/>
              </a:rPr>
              <a:t>Continuous real-time surface deformation monitoring above underground mine panels, with localized wireless sensing and offline early warning.</a:t>
            </a:r>
          </a:p>
        </p:txBody>
      </p:sp>
    </p:spTree>
    <p:extLst>
      <p:ext uri="{BB962C8B-B14F-4D97-AF65-F5344CB8AC3E}">
        <p14:creationId xmlns:p14="http://schemas.microsoft.com/office/powerpoint/2010/main" val="898133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F9C2EB72-05AB-4429-9A2C-1C90860C9D95}"/>
              </a:ext>
            </a:extLst>
          </p:cNvPr>
          <p:cNvSpPr>
            <a:spLocks noGrp="1"/>
          </p:cNvSpPr>
          <p:nvPr/>
        </p:nvSpPr>
        <p:spPr>
          <a:xfrm>
            <a:off x="731520" y="320040"/>
            <a:ext cx="2011680" cy="1005840"/>
          </a:xfrm>
          <a:prstGeom prst="ellipse">
            <a:avLst/>
          </a:prstGeom>
          <a:solidFill>
            <a:srgbClr val="FFFFFF"/>
          </a:solidFill>
          <a:ln w="31750">
            <a:solidFill>
              <a:srgbClr val="5C2D91"/>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defRPr sz="1300" b="1">
                <a:solidFill>
                  <a:srgbClr val="5C2D91"/>
                </a:solidFill>
                <a:latin typeface="Arial"/>
                <a:ea typeface="Arial"/>
                <a:cs typeface="Arial"/>
              </a:defRPr>
            </a:pPr>
            <a:r>
              <a:t>TEAM</a:t>
            </a:r>
          </a:p>
          <a:p>
            <a:pPr algn="ctr">
              <a:buNone/>
              <a:defRPr sz="1500" b="1">
                <a:solidFill>
                  <a:srgbClr val="5C2D91"/>
                </a:solidFill>
                <a:latin typeface="Arial"/>
                <a:ea typeface="Arial"/>
                <a:cs typeface="Arial"/>
              </a:defRPr>
            </a:pPr>
            <a:r>
              <a:t>MineNova6</a:t>
            </a:r>
          </a:p>
        </p:txBody>
      </p:sp>
      <p:sp>
        <p:nvSpPr>
          <p:cNvPr id="3" name="TextBox 2">
            <a:extLst>
              <a:ext uri="{FF2B5EF4-FFF2-40B4-BE49-F238E27FC236}">
                <a16:creationId xmlns:a16="http://schemas.microsoft.com/office/drawing/2014/main" id="{86FEDAEA-20D4-4207-A4F1-0FB90AEFF0C7}"/>
              </a:ext>
            </a:extLst>
          </p:cNvPr>
          <p:cNvSpPr>
            <a:spLocks noGrp="1"/>
          </p:cNvSpPr>
          <p:nvPr/>
        </p:nvSpPr>
        <p:spPr>
          <a:xfrm>
            <a:off x="2926080" y="365760"/>
            <a:ext cx="11887200" cy="1005840"/>
          </a:xfrm>
          <a:prstGeom prst="rect">
            <a:avLst/>
          </a:prstGeom>
          <a:noFill/>
        </p:spPr>
        <p:txBody>
          <a:bodyPr wrap="square">
            <a:spAutoFit/>
          </a:bodyPr>
          <a:lstStyle/>
          <a:p>
            <a:pPr algn="ctr">
              <a:buNone/>
              <a:defRPr sz="3600" b="1">
                <a:solidFill>
                  <a:srgbClr val="1F497D"/>
                </a:solidFill>
                <a:latin typeface="Times New Roman"/>
                <a:ea typeface="Times New Roman"/>
                <a:cs typeface="Times New Roman"/>
              </a:defRPr>
            </a:pPr>
            <a:r>
              <a:t>TECHNICAL APPROACH</a:t>
            </a:r>
          </a:p>
        </p:txBody>
      </p:sp>
      <p:pic>
        <p:nvPicPr>
          <p:cNvPr id="35" name="Picture 3"/>
          <p:cNvPicPr>
            <a:picLocks noChangeAspect="1"/>
          </p:cNvPicPr>
          <p:nvPr/>
        </p:nvPicPr>
        <p:blipFill>
          <a:blip r:embed="rId3"/>
          <a:stretch>
            <a:fillRect/>
          </a:stretch>
        </p:blipFill>
        <p:spPr>
          <a:xfrm>
            <a:off x="15179040" y="274320"/>
            <a:ext cx="2560320" cy="1146309"/>
          </a:xfrm>
          <a:prstGeom prst="rect">
            <a:avLst/>
          </a:prstGeom>
        </p:spPr>
      </p:pic>
      <p:sp>
        <p:nvSpPr>
          <p:cNvPr id="5" name="Rectangle 4">
            <a:extLst>
              <a:ext uri="{FF2B5EF4-FFF2-40B4-BE49-F238E27FC236}">
                <a16:creationId xmlns:a16="http://schemas.microsoft.com/office/drawing/2014/main" id="{6B09D148-AD36-4061-950F-E94F96E28E9C}"/>
              </a:ext>
            </a:extLst>
          </p:cNvPr>
          <p:cNvSpPr>
            <a:spLocks noGrp="1"/>
          </p:cNvSpPr>
          <p:nvPr/>
        </p:nvSpPr>
        <p:spPr>
          <a:xfrm>
            <a:off x="0" y="9601200"/>
            <a:ext cx="18288000" cy="685800"/>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F510BCAB-9FEA-4EF1-9D77-81109B7A7030}"/>
              </a:ext>
            </a:extLst>
          </p:cNvPr>
          <p:cNvSpPr>
            <a:spLocks noGrp="1"/>
          </p:cNvSpPr>
          <p:nvPr/>
        </p:nvSpPr>
        <p:spPr>
          <a:xfrm>
            <a:off x="4572000" y="9646920"/>
            <a:ext cx="9144000" cy="594360"/>
          </a:xfrm>
          <a:prstGeom prst="rect">
            <a:avLst/>
          </a:prstGeom>
          <a:noFill/>
        </p:spPr>
        <p:txBody>
          <a:bodyPr wrap="none">
            <a:spAutoFit/>
          </a:bodyPr>
          <a:lstStyle/>
          <a:p>
            <a:pPr algn="ctr">
              <a:buNone/>
              <a:defRPr sz="1500" b="1">
                <a:solidFill>
                  <a:srgbClr val="FFFFFF"/>
                </a:solidFill>
                <a:latin typeface="Arial"/>
                <a:ea typeface="Arial"/>
                <a:cs typeface="Arial"/>
              </a:defRPr>
            </a:pPr>
            <a:r>
              <a:t>@SIH Idea submission- Template</a:t>
            </a:r>
          </a:p>
        </p:txBody>
      </p:sp>
      <p:sp>
        <p:nvSpPr>
          <p:cNvPr id="7" name="TextBox 6">
            <a:extLst>
              <a:ext uri="{FF2B5EF4-FFF2-40B4-BE49-F238E27FC236}">
                <a16:creationId xmlns:a16="http://schemas.microsoft.com/office/drawing/2014/main" id="{554FEE2F-81B7-4DDC-883B-821A65BE7CAB}"/>
              </a:ext>
            </a:extLst>
          </p:cNvPr>
          <p:cNvSpPr>
            <a:spLocks noGrp="1"/>
          </p:cNvSpPr>
          <p:nvPr/>
        </p:nvSpPr>
        <p:spPr>
          <a:xfrm>
            <a:off x="16642080" y="9646920"/>
            <a:ext cx="1280160" cy="594360"/>
          </a:xfrm>
          <a:prstGeom prst="rect">
            <a:avLst/>
          </a:prstGeom>
          <a:noFill/>
        </p:spPr>
        <p:txBody>
          <a:bodyPr wrap="none">
            <a:spAutoFit/>
          </a:bodyPr>
          <a:lstStyle/>
          <a:p>
            <a:pPr algn="r">
              <a:buNone/>
              <a:defRPr sz="1600" b="1">
                <a:solidFill>
                  <a:srgbClr val="FFFFFF"/>
                </a:solidFill>
                <a:latin typeface="Arial"/>
                <a:ea typeface="Arial"/>
                <a:cs typeface="Arial"/>
              </a:defRPr>
            </a:pPr>
            <a:r>
              <a:t>3</a:t>
            </a:r>
          </a:p>
        </p:txBody>
      </p:sp>
      <p:sp>
        <p:nvSpPr>
          <p:cNvPr id="8" name="TextBox 7">
            <a:extLst>
              <a:ext uri="{FF2B5EF4-FFF2-40B4-BE49-F238E27FC236}">
                <a16:creationId xmlns:a16="http://schemas.microsoft.com/office/drawing/2014/main" id="{FC05D556-F022-4440-A2F4-B77F47CC1986}"/>
              </a:ext>
            </a:extLst>
          </p:cNvPr>
          <p:cNvSpPr>
            <a:spLocks noGrp="1"/>
          </p:cNvSpPr>
          <p:nvPr/>
        </p:nvSpPr>
        <p:spPr>
          <a:xfrm>
            <a:off x="731520" y="1463040"/>
            <a:ext cx="16824960" cy="548640"/>
          </a:xfrm>
          <a:prstGeom prst="rect">
            <a:avLst/>
          </a:prstGeom>
          <a:noFill/>
        </p:spPr>
        <p:txBody>
          <a:bodyPr wrap="none">
            <a:spAutoFit/>
          </a:bodyPr>
          <a:lstStyle/>
          <a:p>
            <a:pPr>
              <a:buNone/>
              <a:defRPr sz="2200" b="1" u="sng">
                <a:solidFill>
                  <a:srgbClr val="006FC0"/>
                </a:solidFill>
                <a:latin typeface="Arial"/>
                <a:ea typeface="Arial"/>
                <a:cs typeface="Arial"/>
              </a:defRPr>
            </a:pPr>
            <a:r>
              <a:t>❖ Technologies to be used &amp; Process Workflow Architecture</a:t>
            </a:r>
          </a:p>
        </p:txBody>
      </p:sp>
      <p:sp>
        <p:nvSpPr>
          <p:cNvPr id="9" name="Rounded Rectangle 8">
            <a:extLst>
              <a:ext uri="{FF2B5EF4-FFF2-40B4-BE49-F238E27FC236}">
                <a16:creationId xmlns:a16="http://schemas.microsoft.com/office/drawing/2014/main" id="{C3E3F6F8-409B-48C4-911F-8677DB8F9527}"/>
              </a:ext>
            </a:extLst>
          </p:cNvPr>
          <p:cNvSpPr>
            <a:spLocks noGrp="1"/>
          </p:cNvSpPr>
          <p:nvPr/>
        </p:nvSpPr>
        <p:spPr>
          <a:xfrm>
            <a:off x="731520" y="2103120"/>
            <a:ext cx="5394960" cy="25603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wrap="square" lIns="323850" tIns="228600" rIns="323850" bIns="228600" anchor="ctr">
            <a:noAutofit/>
          </a:bodyPr>
          <a:lstStyle/>
          <a:p>
            <a:pPr algn="l">
              <a:spcAft>
                <a:spcPts val="700"/>
              </a:spcAft>
              <a:buNone/>
              <a:defRPr sz="1500">
                <a:solidFill>
                  <a:srgbClr val="485A70"/>
                </a:solidFill>
                <a:latin typeface="Arial"/>
                <a:ea typeface="Arial"/>
                <a:cs typeface="Arial"/>
              </a:defRPr>
            </a:pPr>
            <a:r>
              <a:rPr sz="1650" b="1">
                <a:solidFill>
                  <a:srgbClr val="234F86"/>
                </a:solidFill>
              </a:rPr>
              <a:t>1. SURFACE SENSOR PROTOTYPE</a:t>
            </a:r>
          </a:p>
          <a:p>
            <a:pPr algn="l">
              <a:spcAft>
                <a:spcPts val="600"/>
              </a:spcAft>
              <a:buNone/>
              <a:defRPr sz="1500">
                <a:solidFill>
                  <a:srgbClr val="485A70"/>
                </a:solidFill>
                <a:latin typeface="Arial"/>
                <a:ea typeface="Arial"/>
                <a:cs typeface="Arial"/>
              </a:defRPr>
            </a:pPr>
            <a:r>
              <a:rPr b="1">
                <a:solidFill>
                  <a:srgbClr val="152036"/>
                </a:solidFill>
              </a:rPr>
              <a:t>ESP32 node: </a:t>
            </a:r>
            <a:r>
              <a:rPr b="0">
                <a:solidFill>
                  <a:srgbClr val="485A70"/>
                </a:solidFill>
              </a:rPr>
              <a:t>MPU-6050 tilt/vibration and wired linear displacement sensor.</a:t>
            </a:r>
          </a:p>
          <a:p>
            <a:pPr algn="l">
              <a:spcAft>
                <a:spcPts val="600"/>
              </a:spcAft>
              <a:buNone/>
              <a:defRPr sz="1500">
                <a:solidFill>
                  <a:srgbClr val="485A70"/>
                </a:solidFill>
                <a:latin typeface="Arial"/>
                <a:ea typeface="Arial"/>
                <a:cs typeface="Arial"/>
              </a:defRPr>
            </a:pPr>
            <a:r>
              <a:rPr b="1">
                <a:solidFill>
                  <a:srgbClr val="152036"/>
                </a:solidFill>
              </a:rPr>
              <a:t>Relative movement: </a:t>
            </a:r>
            <a:r>
              <a:rPr b="0">
                <a:solidFill>
                  <a:srgbClr val="485A70"/>
                </a:solidFill>
              </a:rPr>
              <a:t>Anchored node-pair baselines or cracks. LoRa RSSI is not a displacement measure.</a:t>
            </a:r>
          </a:p>
          <a:p>
            <a:pPr algn="l">
              <a:spcAft>
                <a:spcPts val="600"/>
              </a:spcAft>
              <a:buNone/>
              <a:defRPr sz="1500">
                <a:solidFill>
                  <a:srgbClr val="485A70"/>
                </a:solidFill>
                <a:latin typeface="Arial"/>
                <a:ea typeface="Arial"/>
                <a:cs typeface="Arial"/>
              </a:defRPr>
            </a:pPr>
            <a:r>
              <a:rPr b="1">
                <a:solidFill>
                  <a:srgbClr val="152036"/>
                </a:solidFill>
              </a:rPr>
              <a:t>Calibration: </a:t>
            </a:r>
            <a:r>
              <a:rPr b="0">
                <a:solidFill>
                  <a:srgbClr val="485A70"/>
                </a:solidFill>
              </a:rPr>
              <a:t>Prototype tilt accuracy and displacement resolution require validation.</a:t>
            </a:r>
          </a:p>
        </p:txBody>
      </p:sp>
      <p:sp>
        <p:nvSpPr>
          <p:cNvPr id="10" name="Rounded Rectangle 9">
            <a:extLst>
              <a:ext uri="{FF2B5EF4-FFF2-40B4-BE49-F238E27FC236}">
                <a16:creationId xmlns:a16="http://schemas.microsoft.com/office/drawing/2014/main" id="{5FF6AA05-E5EC-42B7-BEF5-8EA0D8F091CB}"/>
              </a:ext>
            </a:extLst>
          </p:cNvPr>
          <p:cNvSpPr>
            <a:spLocks noGrp="1"/>
          </p:cNvSpPr>
          <p:nvPr/>
        </p:nvSpPr>
        <p:spPr>
          <a:xfrm>
            <a:off x="6446520" y="2103120"/>
            <a:ext cx="5394960" cy="25603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wrap="square" lIns="323850" tIns="228600" rIns="323850" bIns="228600" anchor="ctr">
            <a:noAutofit/>
          </a:bodyPr>
          <a:lstStyle/>
          <a:p>
            <a:pPr algn="l">
              <a:spcAft>
                <a:spcPts val="700"/>
              </a:spcAft>
              <a:buNone/>
              <a:defRPr sz="1500">
                <a:solidFill>
                  <a:srgbClr val="485A70"/>
                </a:solidFill>
                <a:latin typeface="Arial"/>
                <a:ea typeface="Arial"/>
                <a:cs typeface="Arial"/>
              </a:defRPr>
            </a:pPr>
            <a:r>
              <a:rPr sz="1650" b="1">
                <a:solidFill>
                  <a:srgbClr val="234F86"/>
                </a:solidFill>
              </a:rPr>
              <a:t>2. HYBRID RISK ANALYSIS</a:t>
            </a:r>
          </a:p>
          <a:p>
            <a:pPr algn="l">
              <a:spcAft>
                <a:spcPts val="600"/>
              </a:spcAft>
              <a:buNone/>
              <a:defRPr sz="1500">
                <a:solidFill>
                  <a:srgbClr val="485A70"/>
                </a:solidFill>
                <a:latin typeface="Arial"/>
                <a:ea typeface="Arial"/>
                <a:cs typeface="Arial"/>
              </a:defRPr>
            </a:pPr>
            <a:r>
              <a:rPr b="1">
                <a:solidFill>
                  <a:srgbClr val="152036"/>
                </a:solidFill>
              </a:rPr>
              <a:t>Random Forest: </a:t>
            </a:r>
            <a:r>
              <a:rPr b="0">
                <a:solidFill>
                  <a:srgbClr val="485A70"/>
                </a:solidFill>
              </a:rPr>
              <a:t>Normal / Warning / Critical from deformation features.</a:t>
            </a:r>
          </a:p>
          <a:p>
            <a:pPr algn="l">
              <a:spcAft>
                <a:spcPts val="600"/>
              </a:spcAft>
              <a:buNone/>
              <a:defRPr sz="1500">
                <a:solidFill>
                  <a:srgbClr val="485A70"/>
                </a:solidFill>
                <a:latin typeface="Arial"/>
                <a:ea typeface="Arial"/>
                <a:cs typeface="Arial"/>
              </a:defRPr>
            </a:pPr>
            <a:r>
              <a:rPr b="1">
                <a:solidFill>
                  <a:srgbClr val="152036"/>
                </a:solidFill>
              </a:rPr>
              <a:t>Inverse velocity: </a:t>
            </a:r>
            <a:r>
              <a:rPr b="0">
                <a:solidFill>
                  <a:srgbClr val="485A70"/>
                </a:solidFill>
              </a:rPr>
              <a:t>Probable failure trend/window only with a sustained acceleration trend.</a:t>
            </a:r>
          </a:p>
          <a:p>
            <a:pPr algn="l">
              <a:spcAft>
                <a:spcPts val="600"/>
              </a:spcAft>
              <a:buNone/>
              <a:defRPr sz="1500">
                <a:solidFill>
                  <a:srgbClr val="485A70"/>
                </a:solidFill>
                <a:latin typeface="Arial"/>
                <a:ea typeface="Arial"/>
                <a:cs typeface="Arial"/>
              </a:defRPr>
            </a:pPr>
            <a:r>
              <a:rPr b="1">
                <a:solidFill>
                  <a:srgbClr val="152036"/>
                </a:solidFill>
              </a:rPr>
              <a:t>Prototype ML data: </a:t>
            </a:r>
            <a:r>
              <a:rPr b="0">
                <a:solidFill>
                  <a:srgbClr val="485A70"/>
                </a:solidFill>
              </a:rPr>
              <a:t>Controlled/simulated scenarios. Real mine data and field calibration required.</a:t>
            </a:r>
          </a:p>
        </p:txBody>
      </p:sp>
      <p:sp>
        <p:nvSpPr>
          <p:cNvPr id="11" name="Rounded Rectangle 10">
            <a:extLst>
              <a:ext uri="{FF2B5EF4-FFF2-40B4-BE49-F238E27FC236}">
                <a16:creationId xmlns:a16="http://schemas.microsoft.com/office/drawing/2014/main" id="{07DC0B77-550E-4202-9674-3D23FDECE741}"/>
              </a:ext>
            </a:extLst>
          </p:cNvPr>
          <p:cNvSpPr>
            <a:spLocks noGrp="1"/>
          </p:cNvSpPr>
          <p:nvPr/>
        </p:nvSpPr>
        <p:spPr>
          <a:xfrm>
            <a:off x="12161520" y="2103120"/>
            <a:ext cx="5394960" cy="25603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wrap="square" lIns="323850" tIns="228600" rIns="323850" bIns="228600" anchor="ctr">
            <a:noAutofit/>
          </a:bodyPr>
          <a:lstStyle/>
          <a:p>
            <a:pPr algn="l">
              <a:spcAft>
                <a:spcPts val="700"/>
              </a:spcAft>
              <a:buNone/>
              <a:defRPr sz="1500">
                <a:solidFill>
                  <a:srgbClr val="485A70"/>
                </a:solidFill>
                <a:latin typeface="Arial"/>
                <a:ea typeface="Arial"/>
                <a:cs typeface="Arial"/>
              </a:defRPr>
            </a:pPr>
            <a:r>
              <a:rPr sz="1650" b="1">
                <a:solidFill>
                  <a:srgbClr val="234F86"/>
                </a:solidFill>
              </a:rPr>
              <a:t>3. SPATIAL MODEL &amp; LOCAL SAFETY</a:t>
            </a:r>
          </a:p>
          <a:p>
            <a:pPr algn="l">
              <a:spcAft>
                <a:spcPts val="600"/>
              </a:spcAft>
              <a:buNone/>
              <a:defRPr sz="1500">
                <a:solidFill>
                  <a:srgbClr val="485A70"/>
                </a:solidFill>
                <a:latin typeface="Arial"/>
                <a:ea typeface="Arial"/>
                <a:cs typeface="Arial"/>
              </a:defRPr>
            </a:pPr>
            <a:r>
              <a:rPr b="1">
                <a:solidFill>
                  <a:srgbClr val="152036"/>
                </a:solidFill>
              </a:rPr>
              <a:t>Knothe model: </a:t>
            </a:r>
            <a:r>
              <a:rPr b="0">
                <a:solidFill>
                  <a:srgbClr val="485A70"/>
                </a:solidFill>
              </a:rPr>
              <a:t>Physics-informed spatial/calibration layer. Configurable geometry and strata.</a:t>
            </a:r>
          </a:p>
          <a:p>
            <a:pPr algn="l">
              <a:spcAft>
                <a:spcPts val="600"/>
              </a:spcAft>
              <a:buNone/>
              <a:defRPr sz="1500">
                <a:solidFill>
                  <a:srgbClr val="485A70"/>
                </a:solidFill>
                <a:latin typeface="Arial"/>
                <a:ea typeface="Arial"/>
                <a:cs typeface="Arial"/>
              </a:defRPr>
            </a:pPr>
            <a:r>
              <a:rPr b="1">
                <a:solidFill>
                  <a:srgbClr val="152036"/>
                </a:solidFill>
              </a:rPr>
              <a:t>Offline GIS: </a:t>
            </a:r>
            <a:r>
              <a:rPr b="0">
                <a:solidFill>
                  <a:srgbClr val="485A70"/>
                </a:solidFill>
              </a:rPr>
              <a:t>Local maps and data storage. Sync when connectivity returns.</a:t>
            </a:r>
          </a:p>
          <a:p>
            <a:pPr algn="l">
              <a:spcAft>
                <a:spcPts val="600"/>
              </a:spcAft>
              <a:buNone/>
              <a:defRPr sz="1500">
                <a:solidFill>
                  <a:srgbClr val="485A70"/>
                </a:solidFill>
                <a:latin typeface="Arial"/>
                <a:ea typeface="Arial"/>
                <a:cs typeface="Arial"/>
              </a:defRPr>
            </a:pPr>
            <a:r>
              <a:rPr b="1">
                <a:solidFill>
                  <a:srgbClr val="152036"/>
                </a:solidFill>
              </a:rPr>
              <a:t>ESP32 thresholds: </a:t>
            </a:r>
            <a:r>
              <a:rPr b="0">
                <a:solidFill>
                  <a:srgbClr val="485A70"/>
                </a:solidFill>
              </a:rPr>
              <a:t>Independent node/gateway alarm path bypasses ML, backend and cloud.</a:t>
            </a:r>
          </a:p>
        </p:txBody>
      </p:sp>
      <p:sp>
        <p:nvSpPr>
          <p:cNvPr id="13" name="Workflow heading">
            <a:extLst>
              <a:ext uri="{FF2B5EF4-FFF2-40B4-BE49-F238E27FC236}">
                <a16:creationId xmlns:a16="http://schemas.microsoft.com/office/drawing/2014/main" id="{62680310-FEC5-463C-9408-7B892CFA1522}"/>
              </a:ext>
            </a:extLst>
          </p:cNvPr>
          <p:cNvSpPr>
            <a:spLocks noGrp="1"/>
          </p:cNvSpPr>
          <p:nvPr/>
        </p:nvSpPr>
        <p:spPr>
          <a:xfrm>
            <a:off x="723900" y="4810125"/>
            <a:ext cx="16840200" cy="419100"/>
          </a:xfrm>
          <a:prstGeom prst="rect">
            <a:avLst/>
          </a:prstGeom>
          <a:noFill/>
          <a:ln w="0">
            <a:noFill/>
          </a:ln>
        </p:spPr>
        <p:txBody>
          <a:bodyPr lIns="0" tIns="0" rIns="0" bIns="0" anchor="ctr">
            <a:noAutofit/>
          </a:bodyPr>
          <a:lstStyle/>
          <a:p>
            <a:pPr algn="ctr">
              <a:defRPr sz="1950" b="1">
                <a:solidFill>
                  <a:srgbClr val="234F86"/>
                </a:solidFill>
                <a:latin typeface="Arial"/>
                <a:ea typeface="Arial"/>
                <a:cs typeface="Arial"/>
              </a:defRPr>
            </a:pPr>
            <a:r>
              <a:rPr sz="1950" b="1">
                <a:solidFill>
                  <a:srgbClr val="234F86"/>
                </a:solidFill>
                <a:latin typeface="Arial"/>
                <a:ea typeface="Arial"/>
                <a:cs typeface="Arial"/>
              </a:rPr>
              <a:t>SURFACE MONITORING WORKFLOW</a:t>
            </a:r>
          </a:p>
        </p:txBody>
      </p:sp>
      <p:sp>
        <p:nvSpPr>
          <p:cNvPr id="14" name="Surface nodes">
            <a:extLst>
              <a:ext uri="{FF2B5EF4-FFF2-40B4-BE49-F238E27FC236}">
                <a16:creationId xmlns:a16="http://schemas.microsoft.com/office/drawing/2014/main" id="{D99106DA-846E-4925-A381-39E90336D100}"/>
              </a:ext>
            </a:extLst>
          </p:cNvPr>
          <p:cNvSpPr>
            <a:spLocks noGrp="1"/>
          </p:cNvSpPr>
          <p:nvPr/>
        </p:nvSpPr>
        <p:spPr>
          <a:xfrm>
            <a:off x="723900" y="5429250"/>
            <a:ext cx="2714625" cy="1257300"/>
          </a:xfrm>
          <a:prstGeom prst="roundRect">
            <a:avLst>
              <a:gd name="adj" fmla="val 9091"/>
            </a:avLst>
          </a:prstGeom>
          <a:solidFill>
            <a:srgbClr val="F7F9FC"/>
          </a:solidFill>
          <a:ln w="19050">
            <a:solidFill>
              <a:srgbClr val="008BCE"/>
            </a:solidFill>
          </a:ln>
        </p:spPr>
        <p:txBody>
          <a:bodyPr lIns="114300" tIns="95250" rIns="114300" bIns="95250" anchor="ctr">
            <a:noAutofit/>
          </a:bodyPr>
          <a:lstStyle/>
          <a:p>
            <a:pPr algn="ctr">
              <a:defRPr sz="1725">
                <a:solidFill>
                  <a:srgbClr val="152036"/>
                </a:solidFill>
                <a:latin typeface="Arial"/>
                <a:ea typeface="Arial"/>
                <a:cs typeface="Arial"/>
              </a:defRPr>
            </a:pPr>
            <a:r>
              <a:rPr sz="1725">
                <a:solidFill>
                  <a:srgbClr val="152036"/>
                </a:solidFill>
                <a:latin typeface="Arial"/>
                <a:ea typeface="Arial"/>
                <a:cs typeface="Arial"/>
              </a:rPr>
              <a:t>SURFACE NODES</a:t>
            </a:r>
          </a:p>
          <a:p>
            <a:pPr algn="ctr">
              <a:defRPr sz="1725">
                <a:solidFill>
                  <a:srgbClr val="152036"/>
                </a:solidFill>
                <a:latin typeface="Arial"/>
                <a:ea typeface="Arial"/>
                <a:cs typeface="Arial"/>
              </a:defRPr>
            </a:pPr>
            <a:r>
              <a:rPr sz="1725">
                <a:solidFill>
                  <a:srgbClr val="152036"/>
                </a:solidFill>
                <a:latin typeface="Arial"/>
                <a:ea typeface="Arial"/>
                <a:cs typeface="Arial"/>
              </a:rPr>
              <a:t>Tilt • vibration</a:t>
            </a:r>
          </a:p>
          <a:p>
            <a:pPr algn="ctr">
              <a:defRPr sz="1725">
                <a:solidFill>
                  <a:srgbClr val="152036"/>
                </a:solidFill>
                <a:latin typeface="Arial"/>
                <a:ea typeface="Arial"/>
                <a:cs typeface="Arial"/>
              </a:defRPr>
            </a:pPr>
            <a:r>
              <a:rPr sz="1725">
                <a:solidFill>
                  <a:srgbClr val="152036"/>
                </a:solidFill>
                <a:latin typeface="Arial"/>
                <a:ea typeface="Arial"/>
                <a:cs typeface="Arial"/>
              </a:rPr>
              <a:t>Displacement • cracks</a:t>
            </a:r>
          </a:p>
        </p:txBody>
      </p:sp>
      <p:sp>
        <p:nvSpPr>
          <p:cNvPr id="15" name="Local sampling">
            <a:extLst>
              <a:ext uri="{FF2B5EF4-FFF2-40B4-BE49-F238E27FC236}">
                <a16:creationId xmlns:a16="http://schemas.microsoft.com/office/drawing/2014/main" id="{E6506129-1615-4A2C-BE30-3B76F37AE70F}"/>
              </a:ext>
            </a:extLst>
          </p:cNvPr>
          <p:cNvSpPr>
            <a:spLocks noGrp="1"/>
          </p:cNvSpPr>
          <p:nvPr/>
        </p:nvSpPr>
        <p:spPr>
          <a:xfrm>
            <a:off x="3943350" y="5429250"/>
            <a:ext cx="2714625" cy="1257300"/>
          </a:xfrm>
          <a:prstGeom prst="roundRect">
            <a:avLst>
              <a:gd name="adj" fmla="val 9091"/>
            </a:avLst>
          </a:prstGeom>
          <a:solidFill>
            <a:srgbClr val="F7F9FC"/>
          </a:solidFill>
          <a:ln w="19050">
            <a:solidFill>
              <a:srgbClr val="008BCE"/>
            </a:solidFill>
          </a:ln>
        </p:spPr>
        <p:txBody>
          <a:bodyPr lIns="114300" tIns="95250" rIns="114300" bIns="95250" anchor="ctr">
            <a:noAutofit/>
          </a:bodyPr>
          <a:lstStyle/>
          <a:p>
            <a:pPr algn="ctr">
              <a:defRPr sz="1725">
                <a:solidFill>
                  <a:srgbClr val="152036"/>
                </a:solidFill>
                <a:latin typeface="Arial"/>
                <a:ea typeface="Arial"/>
                <a:cs typeface="Arial"/>
              </a:defRPr>
            </a:pPr>
            <a:r>
              <a:rPr sz="1725">
                <a:solidFill>
                  <a:srgbClr val="152036"/>
                </a:solidFill>
                <a:latin typeface="Arial"/>
                <a:ea typeface="Arial"/>
                <a:cs typeface="Arial"/>
              </a:rPr>
              <a:t>ESP32 LOCAL SENSING</a:t>
            </a:r>
          </a:p>
          <a:p>
            <a:pPr algn="ctr">
              <a:defRPr sz="1725">
                <a:solidFill>
                  <a:srgbClr val="152036"/>
                </a:solidFill>
                <a:latin typeface="Arial"/>
                <a:ea typeface="Arial"/>
                <a:cs typeface="Arial"/>
              </a:defRPr>
            </a:pPr>
            <a:r>
              <a:rPr sz="1725">
                <a:solidFill>
                  <a:srgbClr val="152036"/>
                </a:solidFill>
                <a:latin typeface="Arial"/>
                <a:ea typeface="Arial"/>
                <a:cs typeface="Arial"/>
              </a:rPr>
              <a:t>100 Hz sampling</a:t>
            </a:r>
          </a:p>
          <a:p>
            <a:pPr algn="ctr">
              <a:defRPr sz="1725">
                <a:solidFill>
                  <a:srgbClr val="152036"/>
                </a:solidFill>
                <a:latin typeface="Arial"/>
                <a:ea typeface="Arial"/>
                <a:cs typeface="Arial"/>
              </a:defRPr>
            </a:pPr>
            <a:r>
              <a:rPr sz="1725">
                <a:solidFill>
                  <a:srgbClr val="152036"/>
                </a:solidFill>
                <a:latin typeface="Arial"/>
                <a:ea typeface="Arial"/>
                <a:cs typeface="Arial"/>
              </a:rPr>
              <a:t>Filtering + features</a:t>
            </a:r>
          </a:p>
        </p:txBody>
      </p:sp>
      <p:sp>
        <p:nvSpPr>
          <p:cNvPr id="16" name="Custom LoRa mesh">
            <a:extLst>
              <a:ext uri="{FF2B5EF4-FFF2-40B4-BE49-F238E27FC236}">
                <a16:creationId xmlns:a16="http://schemas.microsoft.com/office/drawing/2014/main" id="{7581D163-B351-47B7-83F2-C6DD42E7BA03}"/>
              </a:ext>
            </a:extLst>
          </p:cNvPr>
          <p:cNvSpPr>
            <a:spLocks noGrp="1"/>
          </p:cNvSpPr>
          <p:nvPr/>
        </p:nvSpPr>
        <p:spPr>
          <a:xfrm>
            <a:off x="7162800" y="5429250"/>
            <a:ext cx="3333750" cy="1257300"/>
          </a:xfrm>
          <a:prstGeom prst="roundRect">
            <a:avLst>
              <a:gd name="adj" fmla="val 9091"/>
            </a:avLst>
          </a:prstGeom>
          <a:solidFill>
            <a:srgbClr val="F7F9FC"/>
          </a:solidFill>
          <a:ln w="19050">
            <a:solidFill>
              <a:srgbClr val="009F91"/>
            </a:solidFill>
          </a:ln>
        </p:spPr>
        <p:txBody>
          <a:bodyPr lIns="114300" tIns="95250" rIns="114300" bIns="95250" anchor="ctr">
            <a:noAutofit/>
          </a:bodyPr>
          <a:lstStyle/>
          <a:p>
            <a:pPr algn="ctr">
              <a:defRPr sz="1725">
                <a:solidFill>
                  <a:srgbClr val="152036"/>
                </a:solidFill>
                <a:latin typeface="Arial"/>
                <a:ea typeface="Arial"/>
                <a:cs typeface="Arial"/>
              </a:defRPr>
            </a:pPr>
            <a:r>
              <a:rPr sz="1725">
                <a:solidFill>
                  <a:srgbClr val="152036"/>
                </a:solidFill>
                <a:latin typeface="Arial"/>
                <a:ea typeface="Arial"/>
                <a:cs typeface="Arial"/>
              </a:rPr>
              <a:t>LoRa P2P MESH</a:t>
            </a:r>
          </a:p>
          <a:p>
            <a:pPr algn="ctr">
              <a:defRPr sz="1725">
                <a:solidFill>
                  <a:srgbClr val="152036"/>
                </a:solidFill>
                <a:latin typeface="Arial"/>
                <a:ea typeface="Arial"/>
                <a:cs typeface="Arial"/>
              </a:defRPr>
            </a:pPr>
            <a:r>
              <a:rPr sz="1725">
                <a:solidFill>
                  <a:srgbClr val="152036"/>
                </a:solidFill>
                <a:latin typeface="Arial"/>
                <a:ea typeface="Arial"/>
                <a:cs typeface="Arial"/>
              </a:rPr>
              <a:t>Custom multi-hop</a:t>
            </a:r>
          </a:p>
          <a:p>
            <a:pPr algn="ctr">
              <a:defRPr sz="1725">
                <a:solidFill>
                  <a:srgbClr val="152036"/>
                </a:solidFill>
                <a:latin typeface="Arial"/>
                <a:ea typeface="Arial"/>
                <a:cs typeface="Arial"/>
              </a:defRPr>
            </a:pPr>
            <a:r>
              <a:rPr sz="1725">
                <a:solidFill>
                  <a:srgbClr val="152036"/>
                </a:solidFill>
                <a:latin typeface="Arial"/>
                <a:ea typeface="Arial"/>
                <a:cs typeface="Arial"/>
              </a:rPr>
              <a:t>865–868 MHz</a:t>
            </a:r>
          </a:p>
        </p:txBody>
      </p:sp>
      <p:sp>
        <p:nvSpPr>
          <p:cNvPr id="17" name="Gateway">
            <a:extLst>
              <a:ext uri="{FF2B5EF4-FFF2-40B4-BE49-F238E27FC236}">
                <a16:creationId xmlns:a16="http://schemas.microsoft.com/office/drawing/2014/main" id="{9AD94488-F707-4336-9454-6071F4115815}"/>
              </a:ext>
            </a:extLst>
          </p:cNvPr>
          <p:cNvSpPr>
            <a:spLocks noGrp="1"/>
          </p:cNvSpPr>
          <p:nvPr/>
        </p:nvSpPr>
        <p:spPr>
          <a:xfrm>
            <a:off x="11001375" y="5429250"/>
            <a:ext cx="3095625" cy="1257300"/>
          </a:xfrm>
          <a:prstGeom prst="roundRect">
            <a:avLst>
              <a:gd name="adj" fmla="val 9091"/>
            </a:avLst>
          </a:prstGeom>
          <a:solidFill>
            <a:srgbClr val="F7F9FC"/>
          </a:solidFill>
          <a:ln w="19050">
            <a:solidFill>
              <a:srgbClr val="009F91"/>
            </a:solidFill>
          </a:ln>
        </p:spPr>
        <p:txBody>
          <a:bodyPr lIns="114300" tIns="95250" rIns="114300" bIns="95250" anchor="ctr">
            <a:noAutofit/>
          </a:bodyPr>
          <a:lstStyle/>
          <a:p>
            <a:pPr algn="ctr">
              <a:defRPr sz="1725">
                <a:solidFill>
                  <a:srgbClr val="152036"/>
                </a:solidFill>
                <a:latin typeface="Arial"/>
                <a:ea typeface="Arial"/>
                <a:cs typeface="Arial"/>
              </a:defRPr>
            </a:pPr>
            <a:r>
              <a:rPr sz="1725">
                <a:solidFill>
                  <a:srgbClr val="152036"/>
                </a:solidFill>
                <a:latin typeface="Arial"/>
                <a:ea typeface="Arial"/>
                <a:cs typeface="Arial"/>
              </a:rPr>
              <a:t>LOCAL GATEWAY</a:t>
            </a:r>
          </a:p>
          <a:p>
            <a:pPr algn="ctr">
              <a:defRPr sz="1725">
                <a:solidFill>
                  <a:srgbClr val="152036"/>
                </a:solidFill>
                <a:latin typeface="Arial"/>
                <a:ea typeface="Arial"/>
                <a:cs typeface="Arial"/>
              </a:defRPr>
            </a:pPr>
            <a:r>
              <a:rPr sz="1725">
                <a:solidFill>
                  <a:srgbClr val="152036"/>
                </a:solidFill>
                <a:latin typeface="Arial"/>
                <a:ea typeface="Arial"/>
                <a:cs typeface="Arial"/>
              </a:rPr>
              <a:t>Feature ingestion</a:t>
            </a:r>
          </a:p>
          <a:p>
            <a:pPr algn="ctr">
              <a:defRPr sz="1725">
                <a:solidFill>
                  <a:srgbClr val="152036"/>
                </a:solidFill>
                <a:latin typeface="Arial"/>
                <a:ea typeface="Arial"/>
                <a:cs typeface="Arial"/>
              </a:defRPr>
            </a:pPr>
            <a:r>
              <a:rPr sz="1725">
                <a:solidFill>
                  <a:srgbClr val="152036"/>
                </a:solidFill>
                <a:latin typeface="Arial"/>
                <a:ea typeface="Arial"/>
                <a:cs typeface="Arial"/>
              </a:rPr>
              <a:t>Buffer + local database</a:t>
            </a:r>
          </a:p>
        </p:txBody>
      </p:sp>
      <p:cxnSp>
        <p:nvCxnSpPr>
          <p:cNvPr id="48" name="Straight Arrow Connector 47"/>
          <p:cNvCxnSpPr>
            <a:stCxn id="14" idx="3"/>
            <a:endCxn id="15" idx="1"/>
          </p:cNvCxnSpPr>
          <p:nvPr/>
        </p:nvCxnSpPr>
        <p:spPr>
          <a:xfrm>
            <a:off x="3438525" y="6057900"/>
            <a:ext cx="504825" cy="0"/>
          </a:xfrm>
          <a:prstGeom prst="straightConnector1">
            <a:avLst/>
          </a:prstGeom>
          <a:ln w="28575">
            <a:solidFill>
              <a:srgbClr val="234F86"/>
            </a:solidFill>
            <a:tailEnd type="arrow" w="med" len="med"/>
          </a:ln>
        </p:spPr>
      </p:cxnSp>
      <p:cxnSp>
        <p:nvCxnSpPr>
          <p:cNvPr id="49" name="Straight Arrow Connector 48"/>
          <p:cNvCxnSpPr>
            <a:stCxn id="15" idx="3"/>
            <a:endCxn id="16" idx="1"/>
          </p:cNvCxnSpPr>
          <p:nvPr/>
        </p:nvCxnSpPr>
        <p:spPr>
          <a:xfrm>
            <a:off x="6657975" y="6057900"/>
            <a:ext cx="504825" cy="0"/>
          </a:xfrm>
          <a:prstGeom prst="straightConnector1">
            <a:avLst/>
          </a:prstGeom>
          <a:ln w="28575">
            <a:solidFill>
              <a:srgbClr val="234F86"/>
            </a:solidFill>
            <a:tailEnd type="arrow" w="med" len="med"/>
          </a:ln>
        </p:spPr>
      </p:cxnSp>
      <p:cxnSp>
        <p:nvCxnSpPr>
          <p:cNvPr id="50" name="Straight Arrow Connector 49"/>
          <p:cNvCxnSpPr>
            <a:stCxn id="16" idx="3"/>
            <a:endCxn id="17" idx="1"/>
          </p:cNvCxnSpPr>
          <p:nvPr/>
        </p:nvCxnSpPr>
        <p:spPr>
          <a:xfrm>
            <a:off x="10496550" y="6057900"/>
            <a:ext cx="504825" cy="0"/>
          </a:xfrm>
          <a:prstGeom prst="straightConnector1">
            <a:avLst/>
          </a:prstGeom>
          <a:ln w="28575">
            <a:solidFill>
              <a:srgbClr val="234F86"/>
            </a:solidFill>
            <a:tailEnd type="arrow" w="med" len="med"/>
          </a:ln>
        </p:spPr>
      </p:cxnSp>
      <p:sp>
        <p:nvSpPr>
          <p:cNvPr id="21" name="Telemetry rate">
            <a:extLst>
              <a:ext uri="{FF2B5EF4-FFF2-40B4-BE49-F238E27FC236}">
                <a16:creationId xmlns:a16="http://schemas.microsoft.com/office/drawing/2014/main" id="{FC56327D-31D4-4DFE-8989-06E07D774820}"/>
              </a:ext>
            </a:extLst>
          </p:cNvPr>
          <p:cNvSpPr>
            <a:spLocks noGrp="1"/>
          </p:cNvSpPr>
          <p:nvPr/>
        </p:nvSpPr>
        <p:spPr>
          <a:xfrm>
            <a:off x="6724650" y="6734175"/>
            <a:ext cx="3905250" cy="666750"/>
          </a:xfrm>
          <a:prstGeom prst="rect">
            <a:avLst/>
          </a:prstGeom>
          <a:noFill/>
          <a:ln w="0">
            <a:noFill/>
          </a:ln>
        </p:spPr>
        <p:txBody>
          <a:bodyPr lIns="0" tIns="0" rIns="0" bIns="0" anchor="ctr">
            <a:noAutofit/>
          </a:bodyPr>
          <a:lstStyle/>
          <a:p>
            <a:pPr algn="ctr">
              <a:defRPr sz="1275" b="0">
                <a:solidFill>
                  <a:srgbClr val="485A70"/>
                </a:solidFill>
                <a:latin typeface="Arial"/>
                <a:ea typeface="Arial"/>
                <a:cs typeface="Arial"/>
              </a:defRPr>
            </a:pPr>
            <a:r>
              <a:rPr sz="1275" b="0">
                <a:solidFill>
                  <a:srgbClr val="485A70"/>
                </a:solidFill>
                <a:latin typeface="Arial"/>
                <a:ea typeface="Arial"/>
                <a:cs typeface="Arial"/>
              </a:rPr>
              <a:t>1 Hz feature/status telemetry target</a:t>
            </a:r>
          </a:p>
          <a:p>
            <a:pPr algn="ctr">
              <a:defRPr sz="1275" b="0">
                <a:solidFill>
                  <a:srgbClr val="485A70"/>
                </a:solidFill>
                <a:latin typeface="Arial"/>
                <a:ea typeface="Arial"/>
                <a:cs typeface="Arial"/>
              </a:defRPr>
            </a:pPr>
            <a:r>
              <a:rPr sz="1275" b="0">
                <a:solidFill>
                  <a:srgbClr val="485A70"/>
                </a:solidFill>
                <a:latin typeface="Arial"/>
                <a:ea typeface="Arial"/>
                <a:cs typeface="Arial"/>
              </a:rPr>
              <a:t>Scheduling/retries subject to mesh airtime and WPC limits</a:t>
            </a:r>
          </a:p>
        </p:txBody>
      </p:sp>
      <p:sp>
        <p:nvSpPr>
          <p:cNvPr id="22" name="Random Forest classifier">
            <a:extLst>
              <a:ext uri="{FF2B5EF4-FFF2-40B4-BE49-F238E27FC236}">
                <a16:creationId xmlns:a16="http://schemas.microsoft.com/office/drawing/2014/main" id="{0D470015-B799-4D06-8920-7A8118EE832D}"/>
              </a:ext>
            </a:extLst>
          </p:cNvPr>
          <p:cNvSpPr>
            <a:spLocks noGrp="1"/>
          </p:cNvSpPr>
          <p:nvPr/>
        </p:nvSpPr>
        <p:spPr>
          <a:xfrm>
            <a:off x="11001375" y="7467600"/>
            <a:ext cx="3095625" cy="895350"/>
          </a:xfrm>
          <a:prstGeom prst="roundRect">
            <a:avLst>
              <a:gd name="adj" fmla="val 12766"/>
            </a:avLst>
          </a:prstGeom>
          <a:solidFill>
            <a:srgbClr val="F7F9FC"/>
          </a:solidFill>
          <a:ln w="19050">
            <a:solidFill>
              <a:srgbClr val="8040FF"/>
            </a:solidFill>
          </a:ln>
        </p:spPr>
        <p:txBody>
          <a:bodyPr lIns="114300" tIns="95250" rIns="114300" bIns="95250" anchor="ctr">
            <a:noAutofit/>
          </a:bodyPr>
          <a:lstStyle/>
          <a:p>
            <a:pPr algn="ctr">
              <a:defRPr sz="1575">
                <a:solidFill>
                  <a:srgbClr val="152036"/>
                </a:solidFill>
                <a:latin typeface="Arial"/>
                <a:ea typeface="Arial"/>
                <a:cs typeface="Arial"/>
              </a:defRPr>
            </a:pPr>
            <a:r>
              <a:rPr sz="1575">
                <a:solidFill>
                  <a:srgbClr val="152036"/>
                </a:solidFill>
                <a:latin typeface="Arial"/>
                <a:ea typeface="Arial"/>
                <a:cs typeface="Arial"/>
              </a:rPr>
              <a:t>RANDOM FOREST</a:t>
            </a:r>
          </a:p>
          <a:p>
            <a:pPr algn="ctr">
              <a:defRPr sz="1575">
                <a:solidFill>
                  <a:srgbClr val="152036"/>
                </a:solidFill>
                <a:latin typeface="Arial"/>
                <a:ea typeface="Arial"/>
                <a:cs typeface="Arial"/>
              </a:defRPr>
            </a:pPr>
            <a:r>
              <a:rPr sz="1575">
                <a:solidFill>
                  <a:srgbClr val="152036"/>
                </a:solidFill>
                <a:latin typeface="Arial"/>
                <a:ea typeface="Arial"/>
                <a:cs typeface="Arial"/>
              </a:rPr>
              <a:t>Normal / Warning / Critical</a:t>
            </a:r>
          </a:p>
        </p:txBody>
      </p:sp>
      <p:cxnSp>
        <p:nvCxnSpPr>
          <p:cNvPr id="53" name="Straight Arrow Connector 52"/>
          <p:cNvCxnSpPr>
            <a:stCxn id="17" idx="2"/>
            <a:endCxn id="22" idx="0"/>
          </p:cNvCxnSpPr>
          <p:nvPr/>
        </p:nvCxnSpPr>
        <p:spPr>
          <a:xfrm>
            <a:off x="12549188" y="6686550"/>
            <a:ext cx="0" cy="781050"/>
          </a:xfrm>
          <a:prstGeom prst="straightConnector1">
            <a:avLst/>
          </a:prstGeom>
          <a:ln w="28575">
            <a:solidFill>
              <a:srgbClr val="8040FF"/>
            </a:solidFill>
            <a:tailEnd type="arrow" w="med" len="med"/>
          </a:ln>
        </p:spPr>
      </p:cxnSp>
      <p:sp>
        <p:nvSpPr>
          <p:cNvPr id="24" name="Inverse velocity estimator">
            <a:extLst>
              <a:ext uri="{FF2B5EF4-FFF2-40B4-BE49-F238E27FC236}">
                <a16:creationId xmlns:a16="http://schemas.microsoft.com/office/drawing/2014/main" id="{5E1E24CC-0518-43D6-87F7-9916C7C154DA}"/>
              </a:ext>
            </a:extLst>
          </p:cNvPr>
          <p:cNvSpPr>
            <a:spLocks noGrp="1"/>
          </p:cNvSpPr>
          <p:nvPr/>
        </p:nvSpPr>
        <p:spPr>
          <a:xfrm>
            <a:off x="14763750" y="5429250"/>
            <a:ext cx="2781300" cy="1257300"/>
          </a:xfrm>
          <a:prstGeom prst="roundRect">
            <a:avLst>
              <a:gd name="adj" fmla="val 9091"/>
            </a:avLst>
          </a:prstGeom>
          <a:solidFill>
            <a:srgbClr val="F7F9FC"/>
          </a:solidFill>
          <a:ln w="19050">
            <a:solidFill>
              <a:srgbClr val="8040FF"/>
            </a:solidFill>
          </a:ln>
        </p:spPr>
        <p:txBody>
          <a:bodyPr lIns="114300" tIns="95250" rIns="114300" bIns="95250" anchor="ctr">
            <a:noAutofit/>
          </a:bodyPr>
          <a:lstStyle/>
          <a:p>
            <a:pPr algn="ctr">
              <a:defRPr sz="1575">
                <a:solidFill>
                  <a:srgbClr val="152036"/>
                </a:solidFill>
                <a:latin typeface="Arial"/>
                <a:ea typeface="Arial"/>
                <a:cs typeface="Arial"/>
              </a:defRPr>
            </a:pPr>
            <a:r>
              <a:rPr sz="1575">
                <a:solidFill>
                  <a:srgbClr val="152036"/>
                </a:solidFill>
                <a:latin typeface="Arial"/>
                <a:ea typeface="Arial"/>
                <a:cs typeface="Arial"/>
              </a:rPr>
              <a:t>INVERSE-VELOCITY</a:t>
            </a:r>
          </a:p>
          <a:p>
            <a:pPr algn="ctr">
              <a:defRPr sz="1575">
                <a:solidFill>
                  <a:srgbClr val="152036"/>
                </a:solidFill>
                <a:latin typeface="Arial"/>
                <a:ea typeface="Arial"/>
                <a:cs typeface="Arial"/>
              </a:defRPr>
            </a:pPr>
            <a:r>
              <a:rPr sz="1575">
                <a:solidFill>
                  <a:srgbClr val="152036"/>
                </a:solidFill>
                <a:latin typeface="Arial"/>
                <a:ea typeface="Arial"/>
                <a:cs typeface="Arial"/>
              </a:rPr>
              <a:t>Displacement trend</a:t>
            </a:r>
          </a:p>
          <a:p>
            <a:pPr algn="ctr">
              <a:defRPr sz="1575">
                <a:solidFill>
                  <a:srgbClr val="152036"/>
                </a:solidFill>
                <a:latin typeface="Arial"/>
                <a:ea typeface="Arial"/>
                <a:cs typeface="Arial"/>
              </a:defRPr>
            </a:pPr>
            <a:r>
              <a:rPr sz="1575">
                <a:solidFill>
                  <a:srgbClr val="152036"/>
                </a:solidFill>
                <a:latin typeface="Arial"/>
                <a:ea typeface="Arial"/>
                <a:cs typeface="Arial"/>
              </a:rPr>
              <a:t>Probable window</a:t>
            </a:r>
          </a:p>
          <a:p>
            <a:pPr algn="ctr">
              <a:defRPr sz="1575">
                <a:solidFill>
                  <a:srgbClr val="152036"/>
                </a:solidFill>
                <a:latin typeface="Arial"/>
                <a:ea typeface="Arial"/>
                <a:cs typeface="Arial"/>
              </a:defRPr>
            </a:pPr>
            <a:r>
              <a:rPr sz="1575">
                <a:solidFill>
                  <a:srgbClr val="152036"/>
                </a:solidFill>
                <a:latin typeface="Arial"/>
                <a:ea typeface="Arial"/>
                <a:cs typeface="Arial"/>
              </a:rPr>
              <a:t>with uncertainty</a:t>
            </a:r>
          </a:p>
        </p:txBody>
      </p:sp>
      <p:sp>
        <p:nvSpPr>
          <p:cNvPr id="25" name="GIS dashboard alerts">
            <a:extLst>
              <a:ext uri="{FF2B5EF4-FFF2-40B4-BE49-F238E27FC236}">
                <a16:creationId xmlns:a16="http://schemas.microsoft.com/office/drawing/2014/main" id="{FB455677-8E42-4B8A-966B-AAADA287EC89}"/>
              </a:ext>
            </a:extLst>
          </p:cNvPr>
          <p:cNvSpPr>
            <a:spLocks noGrp="1"/>
          </p:cNvSpPr>
          <p:nvPr/>
        </p:nvSpPr>
        <p:spPr>
          <a:xfrm>
            <a:off x="14763750" y="7467600"/>
            <a:ext cx="2781300" cy="1847850"/>
          </a:xfrm>
          <a:prstGeom prst="roundRect">
            <a:avLst>
              <a:gd name="adj" fmla="val 6186"/>
            </a:avLst>
          </a:prstGeom>
          <a:solidFill>
            <a:srgbClr val="F7F9FC"/>
          </a:solidFill>
          <a:ln w="19050">
            <a:solidFill>
              <a:srgbClr val="13A34B"/>
            </a:solidFill>
          </a:ln>
        </p:spPr>
        <p:txBody>
          <a:bodyPr lIns="114300" tIns="95250" rIns="114300" bIns="95250" anchor="ctr">
            <a:noAutofit/>
          </a:bodyPr>
          <a:lstStyle/>
          <a:p>
            <a:pPr algn="ctr">
              <a:defRPr sz="1575">
                <a:solidFill>
                  <a:srgbClr val="152036"/>
                </a:solidFill>
                <a:latin typeface="Arial"/>
                <a:ea typeface="Arial"/>
                <a:cs typeface="Arial"/>
              </a:defRPr>
            </a:pPr>
            <a:r>
              <a:rPr sz="1575">
                <a:solidFill>
                  <a:srgbClr val="152036"/>
                </a:solidFill>
                <a:latin typeface="Arial"/>
                <a:ea typeface="Arial"/>
                <a:cs typeface="Arial"/>
              </a:rPr>
              <a:t>GIS / DASHBOARD</a:t>
            </a:r>
          </a:p>
          <a:p>
            <a:pPr algn="ctr">
              <a:defRPr sz="1575">
                <a:solidFill>
                  <a:srgbClr val="152036"/>
                </a:solidFill>
                <a:latin typeface="Arial"/>
                <a:ea typeface="Arial"/>
                <a:cs typeface="Arial"/>
              </a:defRPr>
            </a:pPr>
            <a:r>
              <a:rPr sz="1575">
                <a:solidFill>
                  <a:srgbClr val="152036"/>
                </a:solidFill>
                <a:latin typeface="Arial"/>
                <a:ea typeface="Arial"/>
                <a:cs typeface="Arial"/>
              </a:rPr>
              <a:t>Live risk zones + history</a:t>
            </a:r>
          </a:p>
          <a:p>
            <a:pPr algn="ctr">
              <a:defRPr sz="1575">
                <a:solidFill>
                  <a:srgbClr val="152036"/>
                </a:solidFill>
                <a:latin typeface="Arial"/>
                <a:ea typeface="Arial"/>
                <a:cs typeface="Arial"/>
              </a:defRPr>
            </a:pPr>
            <a:r>
              <a:rPr sz="1575">
                <a:solidFill>
                  <a:srgbClr val="152036"/>
                </a:solidFill>
                <a:latin typeface="Arial"/>
                <a:ea typeface="Arial"/>
                <a:cs typeface="Arial"/>
              </a:rPr>
              <a:t>Local siren is primary</a:t>
            </a:r>
          </a:p>
          <a:p>
            <a:pPr algn="ctr">
              <a:defRPr sz="1575">
                <a:solidFill>
                  <a:srgbClr val="152036"/>
                </a:solidFill>
                <a:latin typeface="Arial"/>
                <a:ea typeface="Arial"/>
                <a:cs typeface="Arial"/>
              </a:defRPr>
            </a:pPr>
            <a:r>
              <a:rPr sz="1575">
                <a:solidFill>
                  <a:srgbClr val="152036"/>
                </a:solidFill>
                <a:latin typeface="Arial"/>
                <a:ea typeface="Arial"/>
                <a:cs typeface="Arial"/>
              </a:rPr>
              <a:t>SMS/app: connected only</a:t>
            </a:r>
          </a:p>
        </p:txBody>
      </p:sp>
      <p:cxnSp>
        <p:nvCxnSpPr>
          <p:cNvPr id="56" name="Straight Arrow Connector 55"/>
          <p:cNvCxnSpPr>
            <a:stCxn id="22" idx="3"/>
            <a:endCxn id="25" idx="1"/>
          </p:cNvCxnSpPr>
          <p:nvPr/>
        </p:nvCxnSpPr>
        <p:spPr>
          <a:xfrm>
            <a:off x="14097000" y="7915275"/>
            <a:ext cx="666750" cy="476250"/>
          </a:xfrm>
          <a:prstGeom prst="straightConnector1">
            <a:avLst/>
          </a:prstGeom>
          <a:ln w="28575">
            <a:solidFill>
              <a:srgbClr val="234F86"/>
            </a:solidFill>
            <a:tailEnd type="arrow" w="med" len="med"/>
          </a:ln>
        </p:spPr>
      </p:cxnSp>
      <p:cxnSp>
        <p:nvCxnSpPr>
          <p:cNvPr id="57" name="Straight Arrow Connector 56"/>
          <p:cNvCxnSpPr>
            <a:stCxn id="24" idx="2"/>
            <a:endCxn id="25" idx="0"/>
          </p:cNvCxnSpPr>
          <p:nvPr/>
        </p:nvCxnSpPr>
        <p:spPr>
          <a:xfrm>
            <a:off x="16154400" y="6686550"/>
            <a:ext cx="0" cy="781050"/>
          </a:xfrm>
          <a:prstGeom prst="straightConnector1">
            <a:avLst/>
          </a:prstGeom>
          <a:ln w="28575">
            <a:solidFill>
              <a:srgbClr val="8040FF"/>
            </a:solidFill>
            <a:tailEnd type="arrow" w="med" len="med"/>
          </a:ln>
        </p:spPr>
      </p:cxnSp>
      <p:cxnSp>
        <p:nvCxnSpPr>
          <p:cNvPr id="58" name="Straight Arrow Connector 57"/>
          <p:cNvCxnSpPr>
            <a:stCxn id="17" idx="3"/>
            <a:endCxn id="24" idx="1"/>
          </p:cNvCxnSpPr>
          <p:nvPr/>
        </p:nvCxnSpPr>
        <p:spPr>
          <a:xfrm>
            <a:off x="14097000" y="6057900"/>
            <a:ext cx="666750" cy="0"/>
          </a:xfrm>
          <a:prstGeom prst="straightConnector1">
            <a:avLst/>
          </a:prstGeom>
          <a:ln w="28575">
            <a:solidFill>
              <a:srgbClr val="8040FF"/>
            </a:solidFill>
            <a:tailEnd type="arrow" w="med" len="med"/>
          </a:ln>
        </p:spPr>
      </p:cxnSp>
      <p:sp>
        <p:nvSpPr>
          <p:cNvPr id="29" name="Gateway analysis location">
            <a:extLst>
              <a:ext uri="{FF2B5EF4-FFF2-40B4-BE49-F238E27FC236}">
                <a16:creationId xmlns:a16="http://schemas.microsoft.com/office/drawing/2014/main" id="{61566A9F-371A-4E44-B789-CCE2CAD44B78}"/>
              </a:ext>
            </a:extLst>
          </p:cNvPr>
          <p:cNvSpPr>
            <a:spLocks noGrp="1"/>
          </p:cNvSpPr>
          <p:nvPr/>
        </p:nvSpPr>
        <p:spPr>
          <a:xfrm>
            <a:off x="11001375" y="8582025"/>
            <a:ext cx="3095625" cy="733425"/>
          </a:xfrm>
          <a:prstGeom prst="rect">
            <a:avLst/>
          </a:prstGeom>
          <a:noFill/>
          <a:ln w="0">
            <a:noFill/>
          </a:ln>
        </p:spPr>
        <p:txBody>
          <a:bodyPr lIns="0" tIns="0" rIns="0" bIns="0" anchor="ctr">
            <a:noAutofit/>
          </a:bodyPr>
          <a:lstStyle/>
          <a:p>
            <a:pPr algn="ctr">
              <a:defRPr sz="1500" b="0">
                <a:solidFill>
                  <a:srgbClr val="485A70"/>
                </a:solidFill>
                <a:latin typeface="Arial"/>
                <a:ea typeface="Arial"/>
                <a:cs typeface="Arial"/>
              </a:defRPr>
            </a:pPr>
            <a:r>
              <a:rPr sz="1500" b="0">
                <a:solidFill>
                  <a:srgbClr val="485A70"/>
                </a:solidFill>
                <a:latin typeface="Arial"/>
                <a:ea typeface="Arial"/>
                <a:cs typeface="Arial"/>
              </a:rPr>
              <a:t>Gateway runs both models</a:t>
            </a:r>
          </a:p>
          <a:p>
            <a:pPr algn="ctr">
              <a:defRPr sz="1500" b="0">
                <a:solidFill>
                  <a:srgbClr val="485A70"/>
                </a:solidFill>
                <a:latin typeface="Arial"/>
                <a:ea typeface="Arial"/>
                <a:cs typeface="Arial"/>
              </a:defRPr>
            </a:pPr>
            <a:r>
              <a:rPr sz="1500" b="0">
                <a:solidFill>
                  <a:srgbClr val="485A70"/>
                </a:solidFill>
                <a:latin typeface="Arial"/>
                <a:ea typeface="Arial"/>
                <a:cs typeface="Arial"/>
              </a:rPr>
              <a:t>and retains local history</a:t>
            </a:r>
          </a:p>
        </p:txBody>
      </p:sp>
      <p:sp>
        <p:nvSpPr>
          <p:cNvPr id="30" name="Independent threshold fail-safe">
            <a:extLst>
              <a:ext uri="{FF2B5EF4-FFF2-40B4-BE49-F238E27FC236}">
                <a16:creationId xmlns:a16="http://schemas.microsoft.com/office/drawing/2014/main" id="{CBCE7D0F-A63F-4430-B04E-0073177E02C5}"/>
              </a:ext>
            </a:extLst>
          </p:cNvPr>
          <p:cNvSpPr>
            <a:spLocks noGrp="1"/>
          </p:cNvSpPr>
          <p:nvPr/>
        </p:nvSpPr>
        <p:spPr>
          <a:xfrm>
            <a:off x="723900" y="7505700"/>
            <a:ext cx="9763125" cy="1809750"/>
          </a:xfrm>
          <a:prstGeom prst="roundRect">
            <a:avLst>
              <a:gd name="adj" fmla="val 6316"/>
            </a:avLst>
          </a:prstGeom>
          <a:solidFill>
            <a:srgbClr val="FFF4F4"/>
          </a:solidFill>
          <a:ln w="19050">
            <a:solidFill>
              <a:srgbClr val="E92424"/>
            </a:solidFill>
          </a:ln>
        </p:spPr>
        <p:txBody>
          <a:bodyPr lIns="114300" tIns="95250" rIns="114300" bIns="95250" anchor="ctr">
            <a:noAutofit/>
          </a:bodyPr>
          <a:lstStyle/>
          <a:p>
            <a:pPr algn="ctr">
              <a:defRPr sz="1875">
                <a:solidFill>
                  <a:srgbClr val="152036"/>
                </a:solidFill>
                <a:latin typeface="Arial"/>
                <a:ea typeface="Arial"/>
                <a:cs typeface="Arial"/>
              </a:defRPr>
            </a:pPr>
            <a:r>
              <a:rPr sz="1875">
                <a:solidFill>
                  <a:srgbClr val="152036"/>
                </a:solidFill>
                <a:latin typeface="Arial"/>
                <a:ea typeface="Arial"/>
                <a:cs typeface="Arial"/>
              </a:rPr>
              <a:t>INDEPENDENT ESP32 THRESHOLD FAIL-SAFE</a:t>
            </a:r>
          </a:p>
          <a:p>
            <a:pPr algn="ctr">
              <a:defRPr sz="1875">
                <a:solidFill>
                  <a:srgbClr val="152036"/>
                </a:solidFill>
                <a:latin typeface="Arial"/>
                <a:ea typeface="Arial"/>
                <a:cs typeface="Arial"/>
              </a:defRPr>
            </a:pPr>
            <a:r>
              <a:rPr sz="1875">
                <a:solidFill>
                  <a:srgbClr val="152036"/>
                </a:solidFill>
                <a:latin typeface="Arial"/>
                <a:ea typeface="Arial"/>
                <a:cs typeface="Arial"/>
              </a:rPr>
              <a:t>Node threshold → local buzzer / LED</a:t>
            </a:r>
          </a:p>
          <a:p>
            <a:pPr algn="ctr">
              <a:defRPr sz="1875">
                <a:solidFill>
                  <a:srgbClr val="152036"/>
                </a:solidFill>
                <a:latin typeface="Arial"/>
                <a:ea typeface="Arial"/>
                <a:cs typeface="Arial"/>
              </a:defRPr>
            </a:pPr>
            <a:r>
              <a:rPr sz="1875">
                <a:solidFill>
                  <a:srgbClr val="152036"/>
                </a:solidFill>
                <a:latin typeface="Arial"/>
                <a:ea typeface="Arial"/>
                <a:cs typeface="Arial"/>
              </a:rPr>
              <a:t>Gateway threshold → local relay / siren</a:t>
            </a:r>
          </a:p>
          <a:p>
            <a:pPr algn="ctr">
              <a:defRPr sz="1875">
                <a:solidFill>
                  <a:srgbClr val="152036"/>
                </a:solidFill>
                <a:latin typeface="Arial"/>
                <a:ea typeface="Arial"/>
                <a:cs typeface="Arial"/>
              </a:defRPr>
            </a:pPr>
            <a:r>
              <a:rPr sz="1875">
                <a:solidFill>
                  <a:srgbClr val="152036"/>
                </a:solidFill>
                <a:latin typeface="Arial"/>
                <a:ea typeface="Arial"/>
                <a:cs typeface="Arial"/>
              </a:rPr>
              <a:t>Runs without ML, backend or cloud decisions</a:t>
            </a:r>
          </a:p>
        </p:txBody>
      </p:sp>
      <p:cxnSp>
        <p:nvCxnSpPr>
          <p:cNvPr id="61" name="Straight Arrow Connector 60"/>
          <p:cNvCxnSpPr>
            <a:stCxn id="15" idx="2"/>
            <a:endCxn id="30" idx="0"/>
          </p:cNvCxnSpPr>
          <p:nvPr/>
        </p:nvCxnSpPr>
        <p:spPr>
          <a:xfrm>
            <a:off x="5300663" y="6686550"/>
            <a:ext cx="304800" cy="819150"/>
          </a:xfrm>
          <a:prstGeom prst="straightConnector1">
            <a:avLst/>
          </a:prstGeom>
          <a:ln w="28575">
            <a:solidFill>
              <a:srgbClr val="E92424"/>
            </a:solidFill>
            <a:tailEnd type="arrow" w="med" len="med"/>
          </a:ln>
        </p:spPr>
      </p:cxnSp>
      <p:sp>
        <p:nvSpPr>
          <p:cNvPr id="32" name="Local safety clarification">
            <a:extLst>
              <a:ext uri="{FF2B5EF4-FFF2-40B4-BE49-F238E27FC236}">
                <a16:creationId xmlns:a16="http://schemas.microsoft.com/office/drawing/2014/main" id="{3F78F4FE-AE5A-4FA5-9A23-0D2592FADACA}"/>
              </a:ext>
            </a:extLst>
          </p:cNvPr>
          <p:cNvSpPr>
            <a:spLocks noGrp="1"/>
          </p:cNvSpPr>
          <p:nvPr/>
        </p:nvSpPr>
        <p:spPr>
          <a:xfrm>
            <a:off x="723900" y="9286875"/>
            <a:ext cx="9763125" cy="257175"/>
          </a:xfrm>
          <a:prstGeom prst="rect">
            <a:avLst/>
          </a:prstGeom>
          <a:noFill/>
          <a:ln w="0">
            <a:noFill/>
          </a:ln>
        </p:spPr>
        <p:txBody>
          <a:bodyPr lIns="0" tIns="0" rIns="0" bIns="0" anchor="ctr">
            <a:noAutofit/>
          </a:bodyPr>
          <a:lstStyle/>
          <a:p>
            <a:pPr algn="ctr">
              <a:defRPr sz="1275" b="0">
                <a:solidFill>
                  <a:srgbClr val="485A70"/>
                </a:solidFill>
                <a:latin typeface="Arial"/>
                <a:ea typeface="Arial"/>
                <a:cs typeface="Arial"/>
              </a:defRPr>
            </a:pPr>
            <a:r>
              <a:rPr sz="1275" b="0">
                <a:solidFill>
                  <a:srgbClr val="485A70"/>
                </a:solidFill>
                <a:latin typeface="Arial"/>
                <a:ea typeface="Arial"/>
                <a:cs typeface="Arial"/>
              </a:rPr>
              <a:t>Node indication remains available during mesh/gateway outage. Gateway siren needs a working local link.</a:t>
            </a:r>
          </a:p>
        </p:txBody>
      </p:sp>
    </p:spTree>
    <p:extLst>
      <p:ext uri="{BB962C8B-B14F-4D97-AF65-F5344CB8AC3E}">
        <p14:creationId xmlns:p14="http://schemas.microsoft.com/office/powerpoint/2010/main" val="75907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ECC3D7F-756D-42DB-902E-463FB8CF8CCB}"/>
              </a:ext>
            </a:extLst>
          </p:cNvPr>
          <p:cNvSpPr>
            <a:spLocks noGrp="1"/>
          </p:cNvSpPr>
          <p:nvPr/>
        </p:nvSpPr>
        <p:spPr>
          <a:xfrm>
            <a:off x="731520" y="320040"/>
            <a:ext cx="2011680" cy="1005840"/>
          </a:xfrm>
          <a:prstGeom prst="ellipse">
            <a:avLst/>
          </a:prstGeom>
          <a:solidFill>
            <a:srgbClr val="FFFFFF"/>
          </a:solidFill>
          <a:ln w="31750">
            <a:solidFill>
              <a:srgbClr val="5C2D91"/>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defRPr sz="1300" b="1">
                <a:solidFill>
                  <a:srgbClr val="5C2D91"/>
                </a:solidFill>
                <a:latin typeface="Arial"/>
                <a:ea typeface="Arial"/>
                <a:cs typeface="Arial"/>
              </a:defRPr>
            </a:pPr>
            <a:r>
              <a:t>TEAM</a:t>
            </a:r>
          </a:p>
          <a:p>
            <a:pPr algn="ctr">
              <a:buNone/>
              <a:defRPr sz="1500" b="1">
                <a:solidFill>
                  <a:srgbClr val="5C2D91"/>
                </a:solidFill>
                <a:latin typeface="Arial"/>
                <a:ea typeface="Arial"/>
                <a:cs typeface="Arial"/>
              </a:defRPr>
            </a:pPr>
            <a:r>
              <a:t>MineNova6</a:t>
            </a:r>
          </a:p>
        </p:txBody>
      </p:sp>
      <p:sp>
        <p:nvSpPr>
          <p:cNvPr id="3" name="TextBox 2">
            <a:extLst>
              <a:ext uri="{FF2B5EF4-FFF2-40B4-BE49-F238E27FC236}">
                <a16:creationId xmlns:a16="http://schemas.microsoft.com/office/drawing/2014/main" id="{539FA3B4-942E-4039-9427-9FDC4FA34D27}"/>
              </a:ext>
            </a:extLst>
          </p:cNvPr>
          <p:cNvSpPr>
            <a:spLocks noGrp="1"/>
          </p:cNvSpPr>
          <p:nvPr/>
        </p:nvSpPr>
        <p:spPr>
          <a:xfrm>
            <a:off x="2926080" y="365760"/>
            <a:ext cx="11887200" cy="1005840"/>
          </a:xfrm>
          <a:prstGeom prst="rect">
            <a:avLst/>
          </a:prstGeom>
          <a:noFill/>
        </p:spPr>
        <p:txBody>
          <a:bodyPr wrap="square">
            <a:spAutoFit/>
          </a:bodyPr>
          <a:lstStyle/>
          <a:p>
            <a:pPr algn="ctr">
              <a:buNone/>
              <a:defRPr sz="3600" b="1">
                <a:solidFill>
                  <a:srgbClr val="1F497D"/>
                </a:solidFill>
                <a:latin typeface="Times New Roman"/>
                <a:ea typeface="Times New Roman"/>
                <a:cs typeface="Times New Roman"/>
              </a:defRPr>
            </a:pPr>
            <a:r>
              <a:t>FEASIBILITY AND VIABILITY</a:t>
            </a:r>
          </a:p>
        </p:txBody>
      </p:sp>
      <p:pic>
        <p:nvPicPr>
          <p:cNvPr id="17" name="Picture 3"/>
          <p:cNvPicPr>
            <a:picLocks noChangeAspect="1"/>
          </p:cNvPicPr>
          <p:nvPr/>
        </p:nvPicPr>
        <p:blipFill>
          <a:blip r:embed="rId3"/>
          <a:stretch>
            <a:fillRect/>
          </a:stretch>
        </p:blipFill>
        <p:spPr>
          <a:xfrm>
            <a:off x="15179040" y="274320"/>
            <a:ext cx="2560320" cy="1146309"/>
          </a:xfrm>
          <a:prstGeom prst="rect">
            <a:avLst/>
          </a:prstGeom>
        </p:spPr>
      </p:pic>
      <p:sp>
        <p:nvSpPr>
          <p:cNvPr id="5" name="Rectangle 4">
            <a:extLst>
              <a:ext uri="{FF2B5EF4-FFF2-40B4-BE49-F238E27FC236}">
                <a16:creationId xmlns:a16="http://schemas.microsoft.com/office/drawing/2014/main" id="{9F3576F9-44BD-48B6-A5B1-1EA6198F60A9}"/>
              </a:ext>
            </a:extLst>
          </p:cNvPr>
          <p:cNvSpPr>
            <a:spLocks noGrp="1"/>
          </p:cNvSpPr>
          <p:nvPr/>
        </p:nvSpPr>
        <p:spPr>
          <a:xfrm>
            <a:off x="0" y="9601200"/>
            <a:ext cx="18288000" cy="685800"/>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387F49-3743-4145-B902-DE8BD2FD951C}"/>
              </a:ext>
            </a:extLst>
          </p:cNvPr>
          <p:cNvSpPr>
            <a:spLocks noGrp="1"/>
          </p:cNvSpPr>
          <p:nvPr/>
        </p:nvSpPr>
        <p:spPr>
          <a:xfrm>
            <a:off x="4572000" y="9646920"/>
            <a:ext cx="9144000" cy="594360"/>
          </a:xfrm>
          <a:prstGeom prst="rect">
            <a:avLst/>
          </a:prstGeom>
          <a:noFill/>
        </p:spPr>
        <p:txBody>
          <a:bodyPr wrap="none">
            <a:spAutoFit/>
          </a:bodyPr>
          <a:lstStyle/>
          <a:p>
            <a:pPr algn="ctr">
              <a:buNone/>
              <a:defRPr sz="1500" b="1">
                <a:solidFill>
                  <a:srgbClr val="FFFFFF"/>
                </a:solidFill>
                <a:latin typeface="Arial"/>
                <a:ea typeface="Arial"/>
                <a:cs typeface="Arial"/>
              </a:defRPr>
            </a:pPr>
            <a:r>
              <a:t>@SIH Idea submission- Template</a:t>
            </a:r>
          </a:p>
        </p:txBody>
      </p:sp>
      <p:sp>
        <p:nvSpPr>
          <p:cNvPr id="7" name="TextBox 6">
            <a:extLst>
              <a:ext uri="{FF2B5EF4-FFF2-40B4-BE49-F238E27FC236}">
                <a16:creationId xmlns:a16="http://schemas.microsoft.com/office/drawing/2014/main" id="{2E0D8A0D-B802-4811-8C1B-3CFFC29B283C}"/>
              </a:ext>
            </a:extLst>
          </p:cNvPr>
          <p:cNvSpPr>
            <a:spLocks noGrp="1"/>
          </p:cNvSpPr>
          <p:nvPr/>
        </p:nvSpPr>
        <p:spPr>
          <a:xfrm>
            <a:off x="16642080" y="9646920"/>
            <a:ext cx="1280160" cy="594360"/>
          </a:xfrm>
          <a:prstGeom prst="rect">
            <a:avLst/>
          </a:prstGeom>
          <a:noFill/>
        </p:spPr>
        <p:txBody>
          <a:bodyPr wrap="none">
            <a:spAutoFit/>
          </a:bodyPr>
          <a:lstStyle/>
          <a:p>
            <a:pPr algn="r">
              <a:buNone/>
              <a:defRPr sz="1600" b="1">
                <a:solidFill>
                  <a:srgbClr val="FFFFFF"/>
                </a:solidFill>
                <a:latin typeface="Arial"/>
                <a:ea typeface="Arial"/>
                <a:cs typeface="Arial"/>
              </a:defRPr>
            </a:pPr>
            <a:r>
              <a:t>4</a:t>
            </a:r>
          </a:p>
        </p:txBody>
      </p:sp>
      <p:sp>
        <p:nvSpPr>
          <p:cNvPr id="8" name="TextBox 7">
            <a:extLst>
              <a:ext uri="{FF2B5EF4-FFF2-40B4-BE49-F238E27FC236}">
                <a16:creationId xmlns:a16="http://schemas.microsoft.com/office/drawing/2014/main" id="{C9B8FBF0-CAF3-466A-A0BF-23B96DD5D2F2}"/>
              </a:ext>
            </a:extLst>
          </p:cNvPr>
          <p:cNvSpPr>
            <a:spLocks noGrp="1"/>
          </p:cNvSpPr>
          <p:nvPr/>
        </p:nvSpPr>
        <p:spPr>
          <a:xfrm>
            <a:off x="731520" y="1463040"/>
            <a:ext cx="16824960" cy="548640"/>
          </a:xfrm>
          <a:prstGeom prst="rect">
            <a:avLst/>
          </a:prstGeom>
          <a:noFill/>
        </p:spPr>
        <p:txBody>
          <a:bodyPr wrap="none">
            <a:spAutoFit/>
          </a:bodyPr>
          <a:lstStyle/>
          <a:p>
            <a:pPr>
              <a:buNone/>
              <a:defRPr sz="2200" b="1" u="sng">
                <a:solidFill>
                  <a:srgbClr val="006FC0"/>
                </a:solidFill>
                <a:latin typeface="Arial"/>
                <a:ea typeface="Arial"/>
                <a:cs typeface="Arial"/>
              </a:defRPr>
            </a:pPr>
            <a:r>
              <a:t>❖ Analysis of Feasibility, Potential Challenges &amp; Overcoming Engineering Strategies</a:t>
            </a:r>
          </a:p>
        </p:txBody>
      </p:sp>
      <p:sp>
        <p:nvSpPr>
          <p:cNvPr id="9" name="Rounded Rectangle 8">
            <a:extLst>
              <a:ext uri="{FF2B5EF4-FFF2-40B4-BE49-F238E27FC236}">
                <a16:creationId xmlns:a16="http://schemas.microsoft.com/office/drawing/2014/main" id="{A6A8F5AB-98C7-43FA-AA47-8EFD4B51AFBA}"/>
              </a:ext>
            </a:extLst>
          </p:cNvPr>
          <p:cNvSpPr>
            <a:spLocks noGrp="1"/>
          </p:cNvSpPr>
          <p:nvPr/>
        </p:nvSpPr>
        <p:spPr>
          <a:xfrm>
            <a:off x="731520" y="2148840"/>
            <a:ext cx="8229600" cy="4846320"/>
          </a:xfrm>
          <a:prstGeom prst="roundRect">
            <a:avLst/>
          </a:prstGeom>
          <a:solidFill>
            <a:srgbClr val="F8FAFC"/>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wrap="square" lIns="419100" tIns="228600" rIns="419100" bIns="228600" anchor="ctr">
            <a:noAutofit/>
          </a:bodyPr>
          <a:lstStyle/>
          <a:p>
            <a:pPr algn="l">
              <a:spcAft>
                <a:spcPts val="1400"/>
              </a:spcAft>
              <a:buNone/>
              <a:defRPr sz="1650">
                <a:solidFill>
                  <a:srgbClr val="485A70"/>
                </a:solidFill>
                <a:latin typeface="Arial"/>
                <a:ea typeface="Arial"/>
                <a:cs typeface="Arial"/>
              </a:defRPr>
            </a:pPr>
            <a:r>
              <a:rPr sz="2025" b="1">
                <a:solidFill>
                  <a:srgbClr val="E92424"/>
                </a:solidFill>
              </a:rPr>
              <a:t>CHALLENGES ABOVE UNDERGROUND PANELS</a:t>
            </a:r>
          </a:p>
          <a:p>
            <a:pPr algn="l">
              <a:spcAft>
                <a:spcPts val="1000"/>
              </a:spcAft>
              <a:buNone/>
              <a:defRPr sz="1650">
                <a:solidFill>
                  <a:srgbClr val="485A70"/>
                </a:solidFill>
                <a:latin typeface="Arial"/>
                <a:ea typeface="Arial"/>
                <a:cs typeface="Arial"/>
              </a:defRPr>
            </a:pPr>
            <a:r>
              <a:rPr b="1">
                <a:solidFill>
                  <a:srgbClr val="152036"/>
                </a:solidFill>
              </a:rPr>
              <a:t>Harsh surface conditions: </a:t>
            </a:r>
            <a:r>
              <a:rPr b="0">
                <a:solidFill>
                  <a:srgbClr val="485A70"/>
                </a:solidFill>
              </a:rPr>
              <a:t>Coal dust, monsoon rain, temperature variation, vegetation and machinery traffic affect nodes and anchors.</a:t>
            </a:r>
          </a:p>
          <a:p>
            <a:pPr algn="l">
              <a:spcAft>
                <a:spcPts val="1000"/>
              </a:spcAft>
              <a:buNone/>
              <a:defRPr sz="1650">
                <a:solidFill>
                  <a:srgbClr val="485A70"/>
                </a:solidFill>
                <a:latin typeface="Arial"/>
                <a:ea typeface="Arial"/>
                <a:cs typeface="Arial"/>
              </a:defRPr>
            </a:pPr>
            <a:r>
              <a:rPr b="1">
                <a:solidFill>
                  <a:srgbClr val="152036"/>
                </a:solidFill>
              </a:rPr>
              <a:t>Surface radio obstructions: </a:t>
            </a:r>
            <a:r>
              <a:rPr b="0">
                <a:solidFill>
                  <a:srgbClr val="485A70"/>
                </a:solidFill>
              </a:rPr>
              <a:t>Terrain and buildings can interrupt links. Remote locations may lack cellular coverage.</a:t>
            </a:r>
          </a:p>
          <a:p>
            <a:pPr algn="l">
              <a:spcAft>
                <a:spcPts val="1000"/>
              </a:spcAft>
              <a:buNone/>
              <a:defRPr sz="1650">
                <a:solidFill>
                  <a:srgbClr val="485A70"/>
                </a:solidFill>
                <a:latin typeface="Arial"/>
                <a:ea typeface="Arial"/>
                <a:cs typeface="Arial"/>
              </a:defRPr>
            </a:pPr>
            <a:r>
              <a:rPr b="1">
                <a:solidFill>
                  <a:srgbClr val="152036"/>
                </a:solidFill>
              </a:rPr>
              <a:t>False alarms and missed events: </a:t>
            </a:r>
            <a:r>
              <a:rPr b="0">
                <a:solidFill>
                  <a:srgbClr val="485A70"/>
                </a:solidFill>
              </a:rPr>
              <a:t>Traffic vibration, sensor drift and abrupt ground failure challenge classification and trend estimation.</a:t>
            </a:r>
          </a:p>
          <a:p>
            <a:pPr algn="l">
              <a:spcAft>
                <a:spcPts val="1000"/>
              </a:spcAft>
              <a:buNone/>
              <a:defRPr sz="1650">
                <a:solidFill>
                  <a:srgbClr val="485A70"/>
                </a:solidFill>
                <a:latin typeface="Arial"/>
                <a:ea typeface="Arial"/>
                <a:cs typeface="Arial"/>
              </a:defRPr>
            </a:pPr>
            <a:r>
              <a:rPr b="1">
                <a:solidFill>
                  <a:srgbClr val="152036"/>
                </a:solidFill>
              </a:rPr>
              <a:t>Power and maintenance: </a:t>
            </a:r>
            <a:r>
              <a:rPr b="0">
                <a:solidFill>
                  <a:srgbClr val="485A70"/>
                </a:solidFill>
              </a:rPr>
              <a:t>Solar availability, relay duty and mesh forwarding affect energy use. Anchors and sensors need inspection.</a:t>
            </a:r>
          </a:p>
        </p:txBody>
      </p:sp>
      <p:sp>
        <p:nvSpPr>
          <p:cNvPr id="10" name="Rounded Rectangle 9">
            <a:extLst>
              <a:ext uri="{FF2B5EF4-FFF2-40B4-BE49-F238E27FC236}">
                <a16:creationId xmlns:a16="http://schemas.microsoft.com/office/drawing/2014/main" id="{9626DACA-3F59-499E-8EC6-01E7ED9E77A4}"/>
              </a:ext>
            </a:extLst>
          </p:cNvPr>
          <p:cNvSpPr>
            <a:spLocks noGrp="1"/>
          </p:cNvSpPr>
          <p:nvPr/>
        </p:nvSpPr>
        <p:spPr>
          <a:xfrm>
            <a:off x="9326880" y="2148840"/>
            <a:ext cx="8229600" cy="4846320"/>
          </a:xfrm>
          <a:prstGeom prst="roundRect">
            <a:avLst/>
          </a:prstGeom>
          <a:solidFill>
            <a:srgbClr val="F8FAFC"/>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wrap="square" lIns="419100" tIns="228600" rIns="419100" bIns="228600" anchor="ctr">
            <a:noAutofit/>
          </a:bodyPr>
          <a:lstStyle/>
          <a:p>
            <a:pPr algn="l">
              <a:spcAft>
                <a:spcPts val="1400"/>
              </a:spcAft>
              <a:buNone/>
              <a:defRPr sz="1650">
                <a:solidFill>
                  <a:srgbClr val="485A70"/>
                </a:solidFill>
                <a:latin typeface="Arial"/>
                <a:ea typeface="Arial"/>
                <a:cs typeface="Arial"/>
              </a:defRPr>
            </a:pPr>
            <a:r>
              <a:rPr sz="2025" b="1">
                <a:solidFill>
                  <a:srgbClr val="13A34B"/>
                </a:solidFill>
              </a:rPr>
              <a:t>ENGINEERING STRATEGIES &amp; VALIDATION</a:t>
            </a:r>
          </a:p>
          <a:p>
            <a:pPr algn="l">
              <a:spcAft>
                <a:spcPts val="1000"/>
              </a:spcAft>
              <a:buNone/>
              <a:defRPr sz="1650">
                <a:solidFill>
                  <a:srgbClr val="485A70"/>
                </a:solidFill>
                <a:latin typeface="Arial"/>
                <a:ea typeface="Arial"/>
                <a:cs typeface="Arial"/>
              </a:defRPr>
            </a:pPr>
            <a:r>
              <a:rPr b="1">
                <a:solidFill>
                  <a:srgbClr val="152036"/>
                </a:solidFill>
              </a:rPr>
              <a:t>Weather protection: </a:t>
            </a:r>
            <a:r>
              <a:rPr b="0">
                <a:solidFill>
                  <a:srgbClr val="485A70"/>
                </a:solidFill>
              </a:rPr>
              <a:t>Gasketed enclosure and hydrophobic vent. Dust/water ingress performance requires enclosure testing.</a:t>
            </a:r>
          </a:p>
          <a:p>
            <a:pPr algn="l">
              <a:spcAft>
                <a:spcPts val="1000"/>
              </a:spcAft>
              <a:buNone/>
              <a:defRPr sz="1650">
                <a:solidFill>
                  <a:srgbClr val="485A70"/>
                </a:solidFill>
                <a:latin typeface="Arial"/>
                <a:ea typeface="Arial"/>
                <a:cs typeface="Arial"/>
              </a:defRPr>
            </a:pPr>
            <a:r>
              <a:rPr b="1">
                <a:solidFill>
                  <a:srgbClr val="152036"/>
                </a:solidFill>
              </a:rPr>
              <a:t>Resilient mesh: </a:t>
            </a:r>
            <a:r>
              <a:rPr b="0">
                <a:solidFill>
                  <a:srgbClr val="485A70"/>
                </a:solidFill>
              </a:rPr>
              <a:t>Node IDs, forwarding, acknowledgements and retries. Local ring buffers reduce data loss during outages.</a:t>
            </a:r>
          </a:p>
          <a:p>
            <a:pPr algn="l">
              <a:spcAft>
                <a:spcPts val="1000"/>
              </a:spcAft>
              <a:buNone/>
              <a:defRPr sz="1650">
                <a:solidFill>
                  <a:srgbClr val="485A70"/>
                </a:solidFill>
                <a:latin typeface="Arial"/>
                <a:ea typeface="Arial"/>
                <a:cs typeface="Arial"/>
              </a:defRPr>
            </a:pPr>
            <a:r>
              <a:rPr b="1">
                <a:solidFill>
                  <a:srgbClr val="152036"/>
                </a:solidFill>
              </a:rPr>
              <a:t>Alarm robustness: </a:t>
            </a:r>
            <a:r>
              <a:rPr b="0">
                <a:solidFill>
                  <a:srgbClr val="485A70"/>
                </a:solidFill>
              </a:rPr>
              <a:t>Filtering, multi-sensor agreement and configurable persistence reduce nuisance alarms. Independent thresholds and watchdogs remain active.</a:t>
            </a:r>
          </a:p>
          <a:p>
            <a:pPr algn="l">
              <a:spcAft>
                <a:spcPts val="1000"/>
              </a:spcAft>
              <a:buNone/>
              <a:defRPr sz="1650">
                <a:solidFill>
                  <a:srgbClr val="485A70"/>
                </a:solidFill>
                <a:latin typeface="Arial"/>
                <a:ea typeface="Arial"/>
                <a:cs typeface="Arial"/>
              </a:defRPr>
            </a:pPr>
            <a:r>
              <a:rPr b="1">
                <a:solidFill>
                  <a:srgbClr val="152036"/>
                </a:solidFill>
              </a:rPr>
              <a:t>Solar-assisted low power: </a:t>
            </a:r>
            <a:r>
              <a:rPr b="0">
                <a:solidFill>
                  <a:srgbClr val="485A70"/>
                </a:solidFill>
              </a:rPr>
              <a:t>Duty scheduling and replaceable battery. Autonomy requires measured sensing, forwarding and alarm power validation.</a:t>
            </a:r>
          </a:p>
        </p:txBody>
      </p:sp>
      <p:sp>
        <p:nvSpPr>
          <p:cNvPr id="11" name="Rounded Rectangle 10">
            <a:extLst>
              <a:ext uri="{FF2B5EF4-FFF2-40B4-BE49-F238E27FC236}">
                <a16:creationId xmlns:a16="http://schemas.microsoft.com/office/drawing/2014/main" id="{26A268FC-8AF9-4C96-8076-F2D6B7282581}"/>
              </a:ext>
            </a:extLst>
          </p:cNvPr>
          <p:cNvSpPr>
            <a:spLocks noGrp="1"/>
          </p:cNvSpPr>
          <p:nvPr/>
        </p:nvSpPr>
        <p:spPr>
          <a:xfrm>
            <a:off x="731520" y="7269480"/>
            <a:ext cx="5303520" cy="2011680"/>
          </a:xfrm>
          <a:prstGeom prst="roundRect">
            <a:avLst/>
          </a:prstGeom>
          <a:solidFill>
            <a:srgbClr val="F8FAFC"/>
          </a:solidFill>
          <a:ln w="22860">
            <a:solidFill>
              <a:srgbClr val="0284C7"/>
            </a:solidFill>
          </a:ln>
        </p:spPr>
        <p:style>
          <a:lnRef idx="1">
            <a:schemeClr val="accent1"/>
          </a:lnRef>
          <a:fillRef idx="3">
            <a:schemeClr val="accent1"/>
          </a:fillRef>
          <a:effectRef idx="2">
            <a:schemeClr val="accent1"/>
          </a:effectRef>
          <a:fontRef idx="minor">
            <a:schemeClr val="lt1"/>
          </a:fontRef>
        </p:style>
        <p:txBody>
          <a:bodyPr wrap="square" lIns="333375" tIns="228600" rIns="333375" bIns="228600" anchor="ctr">
            <a:noAutofit/>
          </a:bodyPr>
          <a:lstStyle/>
          <a:p>
            <a:pPr algn="l">
              <a:spcAft>
                <a:spcPts val="1400"/>
              </a:spcAft>
              <a:buNone/>
              <a:defRPr sz="1575">
                <a:solidFill>
                  <a:srgbClr val="485A70"/>
                </a:solidFill>
                <a:latin typeface="Arial"/>
                <a:ea typeface="Arial"/>
                <a:cs typeface="Arial"/>
              </a:defRPr>
            </a:pPr>
            <a:r>
              <a:rPr sz="1650" b="1">
                <a:solidFill>
                  <a:srgbClr val="008BCE"/>
                </a:solidFill>
              </a:rPr>
              <a:t>ESTIMATED PROTOTYPE NODE COST</a:t>
            </a:r>
          </a:p>
          <a:p>
            <a:pPr algn="l">
              <a:spcAft>
                <a:spcPts val="1000"/>
              </a:spcAft>
              <a:buNone/>
              <a:defRPr sz="1575">
                <a:solidFill>
                  <a:srgbClr val="485A70"/>
                </a:solidFill>
                <a:latin typeface="Arial"/>
                <a:ea typeface="Arial"/>
                <a:cs typeface="Arial"/>
              </a:defRPr>
            </a:pPr>
            <a:r>
              <a:rPr b="1">
                <a:solidFill>
                  <a:srgbClr val="152036"/>
                </a:solidFill>
              </a:rPr>
              <a:t>₹2,100 / node: </a:t>
            </a:r>
            <a:r>
              <a:rPr b="0">
                <a:solidFill>
                  <a:srgbClr val="485A70"/>
                </a:solidFill>
              </a:rPr>
              <a:t>Planning estimate, pending itemized BOM validation. Gateway, installation and deployment costs assessed separately.</a:t>
            </a:r>
          </a:p>
        </p:txBody>
      </p:sp>
      <p:sp>
        <p:nvSpPr>
          <p:cNvPr id="12" name="Rounded Rectangle 11">
            <a:extLst>
              <a:ext uri="{FF2B5EF4-FFF2-40B4-BE49-F238E27FC236}">
                <a16:creationId xmlns:a16="http://schemas.microsoft.com/office/drawing/2014/main" id="{E05F5065-0738-4985-86C0-A8F290F4D69F}"/>
              </a:ext>
            </a:extLst>
          </p:cNvPr>
          <p:cNvSpPr>
            <a:spLocks noGrp="1"/>
          </p:cNvSpPr>
          <p:nvPr/>
        </p:nvSpPr>
        <p:spPr>
          <a:xfrm>
            <a:off x="6492240" y="7269480"/>
            <a:ext cx="5303520" cy="2011680"/>
          </a:xfrm>
          <a:prstGeom prst="roundRect">
            <a:avLst/>
          </a:prstGeom>
          <a:solidFill>
            <a:srgbClr val="F8FAFC"/>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wrap="square" lIns="333375" tIns="228600" rIns="333375" bIns="228600" anchor="ctr">
            <a:noAutofit/>
          </a:bodyPr>
          <a:lstStyle/>
          <a:p>
            <a:pPr algn="l">
              <a:spcAft>
                <a:spcPts val="1400"/>
              </a:spcAft>
              <a:buNone/>
              <a:defRPr sz="1575">
                <a:solidFill>
                  <a:srgbClr val="485A70"/>
                </a:solidFill>
                <a:latin typeface="Arial"/>
                <a:ea typeface="Arial"/>
                <a:cs typeface="Arial"/>
              </a:defRPr>
            </a:pPr>
            <a:r>
              <a:rPr sz="1650" b="1">
                <a:solidFill>
                  <a:srgbClr val="009F91"/>
                </a:solidFill>
              </a:rPr>
              <a:t>SCALABLE STUDENT PROTOTYPE</a:t>
            </a:r>
          </a:p>
          <a:p>
            <a:pPr algn="l">
              <a:spcAft>
                <a:spcPts val="1000"/>
              </a:spcAft>
              <a:buNone/>
              <a:defRPr sz="1575">
                <a:solidFill>
                  <a:srgbClr val="485A70"/>
                </a:solidFill>
                <a:latin typeface="Arial"/>
                <a:ea typeface="Arial"/>
                <a:cs typeface="Arial"/>
              </a:defRPr>
            </a:pPr>
            <a:r>
              <a:rPr b="1">
                <a:solidFill>
                  <a:srgbClr val="152036"/>
                </a:solidFill>
              </a:rPr>
              <a:t>Modular deployment: </a:t>
            </a:r>
            <a:r>
              <a:rPr b="0">
                <a:solidFill>
                  <a:srgbClr val="485A70"/>
                </a:solidFill>
              </a:rPr>
              <a:t>Readily available ESP32/sensor modules. Site-specific anchors and baseline surveys. Validate airtime before adding nodes.</a:t>
            </a:r>
          </a:p>
        </p:txBody>
      </p:sp>
      <p:sp>
        <p:nvSpPr>
          <p:cNvPr id="13" name="Rounded Rectangle 12">
            <a:extLst>
              <a:ext uri="{FF2B5EF4-FFF2-40B4-BE49-F238E27FC236}">
                <a16:creationId xmlns:a16="http://schemas.microsoft.com/office/drawing/2014/main" id="{361C1176-73B4-4675-8D5A-128250830454}"/>
              </a:ext>
            </a:extLst>
          </p:cNvPr>
          <p:cNvSpPr>
            <a:spLocks noGrp="1"/>
          </p:cNvSpPr>
          <p:nvPr/>
        </p:nvSpPr>
        <p:spPr>
          <a:xfrm>
            <a:off x="12252960" y="7269480"/>
            <a:ext cx="5303520" cy="2011680"/>
          </a:xfrm>
          <a:prstGeom prst="roundRect">
            <a:avLst/>
          </a:prstGeom>
          <a:solidFill>
            <a:srgbClr val="F8FAFC"/>
          </a:solidFill>
          <a:ln w="22860">
            <a:solidFill>
              <a:srgbClr val="7C3AED"/>
            </a:solidFill>
          </a:ln>
        </p:spPr>
        <p:style>
          <a:lnRef idx="1">
            <a:schemeClr val="accent1"/>
          </a:lnRef>
          <a:fillRef idx="3">
            <a:schemeClr val="accent1"/>
          </a:fillRef>
          <a:effectRef idx="2">
            <a:schemeClr val="accent1"/>
          </a:effectRef>
          <a:fontRef idx="minor">
            <a:schemeClr val="lt1"/>
          </a:fontRef>
        </p:style>
        <p:txBody>
          <a:bodyPr wrap="square" lIns="333375" tIns="228600" rIns="333375" bIns="228600" anchor="ctr">
            <a:noAutofit/>
          </a:bodyPr>
          <a:lstStyle/>
          <a:p>
            <a:pPr algn="l">
              <a:spcAft>
                <a:spcPts val="1400"/>
              </a:spcAft>
              <a:buNone/>
              <a:defRPr sz="1575">
                <a:solidFill>
                  <a:srgbClr val="485A70"/>
                </a:solidFill>
                <a:latin typeface="Arial"/>
                <a:ea typeface="Arial"/>
                <a:cs typeface="Arial"/>
              </a:defRPr>
            </a:pPr>
            <a:r>
              <a:rPr sz="1650" b="1">
                <a:solidFill>
                  <a:srgbClr val="8040FF"/>
                </a:solidFill>
              </a:rPr>
              <a:t>FIELD SERVICEABILITY</a:t>
            </a:r>
          </a:p>
          <a:p>
            <a:pPr algn="l">
              <a:spcAft>
                <a:spcPts val="1000"/>
              </a:spcAft>
              <a:buNone/>
              <a:defRPr sz="1575">
                <a:solidFill>
                  <a:srgbClr val="485A70"/>
                </a:solidFill>
                <a:latin typeface="Arial"/>
                <a:ea typeface="Arial"/>
                <a:cs typeface="Arial"/>
              </a:defRPr>
            </a:pPr>
            <a:r>
              <a:rPr b="1">
                <a:solidFill>
                  <a:srgbClr val="152036"/>
                </a:solidFill>
              </a:rPr>
              <a:t>Replaceable components: </a:t>
            </a:r>
            <a:r>
              <a:rPr b="0">
                <a:solidFill>
                  <a:srgbClr val="485A70"/>
                </a:solidFill>
              </a:rPr>
              <a:t>Modular sensors, battery and enclosure. Scheduled calibration and maintenance. Service life requires field testing.</a:t>
            </a:r>
          </a:p>
        </p:txBody>
      </p:sp>
    </p:spTree>
    <p:extLst>
      <p:ext uri="{BB962C8B-B14F-4D97-AF65-F5344CB8AC3E}">
        <p14:creationId xmlns:p14="http://schemas.microsoft.com/office/powerpoint/2010/main" val="2030629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2DD6047F-50E1-4110-888A-1B28DD59BB97}"/>
              </a:ext>
            </a:extLst>
          </p:cNvPr>
          <p:cNvSpPr>
            <a:spLocks noGrp="1"/>
          </p:cNvSpPr>
          <p:nvPr/>
        </p:nvSpPr>
        <p:spPr>
          <a:xfrm>
            <a:off x="731520" y="320040"/>
            <a:ext cx="2011680" cy="1005840"/>
          </a:xfrm>
          <a:prstGeom prst="ellipse">
            <a:avLst/>
          </a:prstGeom>
          <a:solidFill>
            <a:srgbClr val="FFFFFF"/>
          </a:solidFill>
          <a:ln w="31750">
            <a:solidFill>
              <a:srgbClr val="5C2D91"/>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defRPr sz="1300" b="1">
                <a:solidFill>
                  <a:srgbClr val="5C2D91"/>
                </a:solidFill>
                <a:latin typeface="Arial"/>
                <a:ea typeface="Arial"/>
                <a:cs typeface="Arial"/>
              </a:defRPr>
            </a:pPr>
            <a:r>
              <a:t>TEAM</a:t>
            </a:r>
          </a:p>
          <a:p>
            <a:pPr algn="ctr">
              <a:buNone/>
              <a:defRPr sz="1500" b="1">
                <a:solidFill>
                  <a:srgbClr val="5C2D91"/>
                </a:solidFill>
                <a:latin typeface="Arial"/>
                <a:ea typeface="Arial"/>
                <a:cs typeface="Arial"/>
              </a:defRPr>
            </a:pPr>
            <a:r>
              <a:t>MineNova6</a:t>
            </a:r>
          </a:p>
        </p:txBody>
      </p:sp>
      <p:sp>
        <p:nvSpPr>
          <p:cNvPr id="3" name="TextBox 2">
            <a:extLst>
              <a:ext uri="{FF2B5EF4-FFF2-40B4-BE49-F238E27FC236}">
                <a16:creationId xmlns:a16="http://schemas.microsoft.com/office/drawing/2014/main" id="{5A957C25-CCE5-4DF1-B051-E19F7303CA92}"/>
              </a:ext>
            </a:extLst>
          </p:cNvPr>
          <p:cNvSpPr>
            <a:spLocks noGrp="1"/>
          </p:cNvSpPr>
          <p:nvPr/>
        </p:nvSpPr>
        <p:spPr>
          <a:xfrm>
            <a:off x="2926080" y="365760"/>
            <a:ext cx="11887200" cy="1005840"/>
          </a:xfrm>
          <a:prstGeom prst="rect">
            <a:avLst/>
          </a:prstGeom>
          <a:noFill/>
        </p:spPr>
        <p:txBody>
          <a:bodyPr wrap="square">
            <a:spAutoFit/>
          </a:bodyPr>
          <a:lstStyle/>
          <a:p>
            <a:pPr algn="ctr">
              <a:buNone/>
              <a:defRPr sz="3600" b="1">
                <a:solidFill>
                  <a:srgbClr val="1F497D"/>
                </a:solidFill>
                <a:latin typeface="Times New Roman"/>
                <a:ea typeface="Times New Roman"/>
                <a:cs typeface="Times New Roman"/>
              </a:defRPr>
            </a:pPr>
            <a:r>
              <a:t>IMPACT AND BENEFITS</a:t>
            </a:r>
          </a:p>
        </p:txBody>
      </p:sp>
      <p:pic>
        <p:nvPicPr>
          <p:cNvPr id="16" name="Picture 3"/>
          <p:cNvPicPr>
            <a:picLocks noChangeAspect="1"/>
          </p:cNvPicPr>
          <p:nvPr/>
        </p:nvPicPr>
        <p:blipFill>
          <a:blip r:embed="rId3"/>
          <a:stretch>
            <a:fillRect/>
          </a:stretch>
        </p:blipFill>
        <p:spPr>
          <a:xfrm>
            <a:off x="15179040" y="274320"/>
            <a:ext cx="2560320" cy="1146309"/>
          </a:xfrm>
          <a:prstGeom prst="rect">
            <a:avLst/>
          </a:prstGeom>
        </p:spPr>
      </p:pic>
      <p:sp>
        <p:nvSpPr>
          <p:cNvPr id="5" name="Rectangle 4">
            <a:extLst>
              <a:ext uri="{FF2B5EF4-FFF2-40B4-BE49-F238E27FC236}">
                <a16:creationId xmlns:a16="http://schemas.microsoft.com/office/drawing/2014/main" id="{FD78E720-04D8-4A33-B91B-A43411221F9D}"/>
              </a:ext>
            </a:extLst>
          </p:cNvPr>
          <p:cNvSpPr>
            <a:spLocks noGrp="1"/>
          </p:cNvSpPr>
          <p:nvPr/>
        </p:nvSpPr>
        <p:spPr>
          <a:xfrm>
            <a:off x="0" y="9601200"/>
            <a:ext cx="18288000" cy="685800"/>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DC54C37-2D38-497B-85B7-3352EAC1A19A}"/>
              </a:ext>
            </a:extLst>
          </p:cNvPr>
          <p:cNvSpPr>
            <a:spLocks noGrp="1"/>
          </p:cNvSpPr>
          <p:nvPr/>
        </p:nvSpPr>
        <p:spPr>
          <a:xfrm>
            <a:off x="4572000" y="9646920"/>
            <a:ext cx="9144000" cy="594360"/>
          </a:xfrm>
          <a:prstGeom prst="rect">
            <a:avLst/>
          </a:prstGeom>
          <a:noFill/>
        </p:spPr>
        <p:txBody>
          <a:bodyPr wrap="none">
            <a:spAutoFit/>
          </a:bodyPr>
          <a:lstStyle/>
          <a:p>
            <a:pPr algn="ctr">
              <a:buNone/>
              <a:defRPr sz="1500" b="1">
                <a:solidFill>
                  <a:srgbClr val="FFFFFF"/>
                </a:solidFill>
                <a:latin typeface="Arial"/>
                <a:ea typeface="Arial"/>
                <a:cs typeface="Arial"/>
              </a:defRPr>
            </a:pPr>
            <a:r>
              <a:t>@SIH Idea submission- Template</a:t>
            </a:r>
          </a:p>
        </p:txBody>
      </p:sp>
      <p:sp>
        <p:nvSpPr>
          <p:cNvPr id="7" name="TextBox 6">
            <a:extLst>
              <a:ext uri="{FF2B5EF4-FFF2-40B4-BE49-F238E27FC236}">
                <a16:creationId xmlns:a16="http://schemas.microsoft.com/office/drawing/2014/main" id="{C8EED548-4B6F-4713-ADEE-96F7F2C2A703}"/>
              </a:ext>
            </a:extLst>
          </p:cNvPr>
          <p:cNvSpPr>
            <a:spLocks noGrp="1"/>
          </p:cNvSpPr>
          <p:nvPr/>
        </p:nvSpPr>
        <p:spPr>
          <a:xfrm>
            <a:off x="16642080" y="9646920"/>
            <a:ext cx="1280160" cy="594360"/>
          </a:xfrm>
          <a:prstGeom prst="rect">
            <a:avLst/>
          </a:prstGeom>
          <a:noFill/>
        </p:spPr>
        <p:txBody>
          <a:bodyPr wrap="none">
            <a:spAutoFit/>
          </a:bodyPr>
          <a:lstStyle/>
          <a:p>
            <a:pPr algn="r">
              <a:buNone/>
              <a:defRPr sz="1600" b="1">
                <a:solidFill>
                  <a:srgbClr val="FFFFFF"/>
                </a:solidFill>
                <a:latin typeface="Arial"/>
                <a:ea typeface="Arial"/>
                <a:cs typeface="Arial"/>
              </a:defRPr>
            </a:pPr>
            <a:r>
              <a:t>5</a:t>
            </a:r>
          </a:p>
        </p:txBody>
      </p:sp>
      <p:sp>
        <p:nvSpPr>
          <p:cNvPr id="8" name="TextBox 7">
            <a:extLst>
              <a:ext uri="{FF2B5EF4-FFF2-40B4-BE49-F238E27FC236}">
                <a16:creationId xmlns:a16="http://schemas.microsoft.com/office/drawing/2014/main" id="{C4BAAE20-CDD7-4D6A-A918-ED6E91A53A33}"/>
              </a:ext>
            </a:extLst>
          </p:cNvPr>
          <p:cNvSpPr>
            <a:spLocks noGrp="1"/>
          </p:cNvSpPr>
          <p:nvPr/>
        </p:nvSpPr>
        <p:spPr>
          <a:xfrm>
            <a:off x="731520" y="1463040"/>
            <a:ext cx="16824960" cy="548640"/>
          </a:xfrm>
          <a:prstGeom prst="rect">
            <a:avLst/>
          </a:prstGeom>
          <a:noFill/>
        </p:spPr>
        <p:txBody>
          <a:bodyPr wrap="none">
            <a:spAutoFit/>
          </a:bodyPr>
          <a:lstStyle/>
          <a:p>
            <a:pPr>
              <a:buNone/>
              <a:defRPr sz="2200" b="1" u="sng">
                <a:solidFill>
                  <a:srgbClr val="006FC0"/>
                </a:solidFill>
                <a:latin typeface="Arial"/>
                <a:ea typeface="Arial"/>
                <a:cs typeface="Arial"/>
              </a:defRPr>
            </a:pPr>
            <a:r>
              <a:t>❖ Expected Benefits, Prototype Validation &amp; Monitoring Support</a:t>
            </a:r>
          </a:p>
        </p:txBody>
      </p:sp>
      <p:sp>
        <p:nvSpPr>
          <p:cNvPr id="9" name="Rounded Rectangle 8">
            <a:extLst>
              <a:ext uri="{FF2B5EF4-FFF2-40B4-BE49-F238E27FC236}">
                <a16:creationId xmlns:a16="http://schemas.microsoft.com/office/drawing/2014/main" id="{C905EDD5-7646-4BA9-B17B-B244F80FADCD}"/>
              </a:ext>
            </a:extLst>
          </p:cNvPr>
          <p:cNvSpPr>
            <a:spLocks noGrp="1"/>
          </p:cNvSpPr>
          <p:nvPr/>
        </p:nvSpPr>
        <p:spPr>
          <a:xfrm>
            <a:off x="731520" y="2148840"/>
            <a:ext cx="8229600" cy="3657600"/>
          </a:xfrm>
          <a:prstGeom prst="roundRect">
            <a:avLst/>
          </a:prstGeom>
          <a:solidFill>
            <a:srgbClr val="F8FAFC"/>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wrap="square" lIns="419100" tIns="228600" rIns="419100" bIns="228600" anchor="ctr">
            <a:noAutofit/>
          </a:bodyPr>
          <a:lstStyle/>
          <a:p>
            <a:pPr algn="l">
              <a:spcAft>
                <a:spcPts val="1400"/>
              </a:spcAft>
              <a:buNone/>
              <a:defRPr sz="1500">
                <a:solidFill>
                  <a:srgbClr val="485A70"/>
                </a:solidFill>
                <a:latin typeface="Arial"/>
                <a:ea typeface="Arial"/>
                <a:cs typeface="Arial"/>
              </a:defRPr>
            </a:pPr>
            <a:r>
              <a:rPr sz="1800" b="1">
                <a:solidFill>
                  <a:srgbClr val="E92424"/>
                </a:solidFill>
              </a:rPr>
              <a:t>1. COMMUNITY &amp; WORKER SAFETY</a:t>
            </a:r>
          </a:p>
          <a:p>
            <a:pPr algn="l">
              <a:spcAft>
                <a:spcPts val="600"/>
              </a:spcAft>
              <a:buNone/>
              <a:defRPr sz="1500">
                <a:solidFill>
                  <a:srgbClr val="485A70"/>
                </a:solidFill>
                <a:latin typeface="Arial"/>
                <a:ea typeface="Arial"/>
                <a:cs typeface="Arial"/>
              </a:defRPr>
            </a:pPr>
            <a:r>
              <a:rPr b="1">
                <a:solidFill>
                  <a:srgbClr val="152036"/>
                </a:solidFill>
              </a:rPr>
              <a:t>Earlier indication: </a:t>
            </a:r>
            <a:r>
              <a:rPr b="0">
                <a:solidFill>
                  <a:srgbClr val="485A70"/>
                </a:solidFill>
              </a:rPr>
              <a:t>Detect developing surface movement above underground coal panels to support operator response.</a:t>
            </a:r>
          </a:p>
          <a:p>
            <a:pPr algn="l">
              <a:spcAft>
                <a:spcPts val="600"/>
              </a:spcAft>
              <a:buNone/>
              <a:defRPr sz="1500">
                <a:solidFill>
                  <a:srgbClr val="485A70"/>
                </a:solidFill>
                <a:latin typeface="Arial"/>
                <a:ea typeface="Arial"/>
                <a:cs typeface="Arial"/>
              </a:defRPr>
            </a:pPr>
            <a:r>
              <a:rPr b="1">
                <a:solidFill>
                  <a:srgbClr val="152036"/>
                </a:solidFill>
              </a:rPr>
              <a:t>Offline warning: </a:t>
            </a:r>
            <a:r>
              <a:rPr b="0">
                <a:solidFill>
                  <a:srgbClr val="485A70"/>
                </a:solidFill>
              </a:rPr>
              <a:t>Local siren is the primary alert. Connected gateways can send secondary SMS/app notifications.</a:t>
            </a:r>
          </a:p>
          <a:p>
            <a:pPr algn="l">
              <a:spcAft>
                <a:spcPts val="600"/>
              </a:spcAft>
              <a:buNone/>
              <a:defRPr sz="1500">
                <a:solidFill>
                  <a:srgbClr val="485A70"/>
                </a:solidFill>
                <a:latin typeface="Arial"/>
                <a:ea typeface="Arial"/>
                <a:cs typeface="Arial"/>
              </a:defRPr>
            </a:pPr>
            <a:r>
              <a:rPr b="1">
                <a:solidFill>
                  <a:srgbClr val="152036"/>
                </a:solidFill>
              </a:rPr>
              <a:t>Safer observation: </a:t>
            </a:r>
            <a:r>
              <a:rPr b="0">
                <a:solidFill>
                  <a:srgbClr val="485A70"/>
                </a:solidFill>
              </a:rPr>
              <a:t>Reduce routine exposure of survey crews. Ground surveys and site response plans remain necessary.</a:t>
            </a:r>
          </a:p>
          <a:p>
            <a:pPr algn="l">
              <a:spcAft>
                <a:spcPts val="600"/>
              </a:spcAft>
              <a:buNone/>
              <a:defRPr sz="1500">
                <a:solidFill>
                  <a:srgbClr val="485A70"/>
                </a:solidFill>
                <a:latin typeface="Arial"/>
                <a:ea typeface="Arial"/>
                <a:cs typeface="Arial"/>
              </a:defRPr>
            </a:pPr>
            <a:r>
              <a:rPr b="1">
                <a:solidFill>
                  <a:srgbClr val="152036"/>
                </a:solidFill>
              </a:rPr>
              <a:t>Honest warning limits: </a:t>
            </a:r>
            <a:r>
              <a:rPr b="0">
                <a:solidFill>
                  <a:srgbClr val="485A70"/>
                </a:solidFill>
              </a:rPr>
              <a:t>No guaranteed evacuation lead time. Abrupt failures may lack a useful precursor trend.</a:t>
            </a:r>
          </a:p>
        </p:txBody>
      </p:sp>
      <p:sp>
        <p:nvSpPr>
          <p:cNvPr id="10" name="Rounded Rectangle 9">
            <a:extLst>
              <a:ext uri="{FF2B5EF4-FFF2-40B4-BE49-F238E27FC236}">
                <a16:creationId xmlns:a16="http://schemas.microsoft.com/office/drawing/2014/main" id="{CAE80DB2-D719-4D6F-9D80-BD766226F26E}"/>
              </a:ext>
            </a:extLst>
          </p:cNvPr>
          <p:cNvSpPr>
            <a:spLocks noGrp="1"/>
          </p:cNvSpPr>
          <p:nvPr/>
        </p:nvSpPr>
        <p:spPr>
          <a:xfrm>
            <a:off x="9326880" y="2148840"/>
            <a:ext cx="8229600" cy="3657600"/>
          </a:xfrm>
          <a:prstGeom prst="roundRect">
            <a:avLst/>
          </a:prstGeom>
          <a:solidFill>
            <a:srgbClr val="F8FAFC"/>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wrap="square" lIns="419100" tIns="228600" rIns="419100" bIns="228600" anchor="ctr">
            <a:noAutofit/>
          </a:bodyPr>
          <a:lstStyle/>
          <a:p>
            <a:pPr algn="l">
              <a:spcAft>
                <a:spcPts val="1400"/>
              </a:spcAft>
              <a:buNone/>
              <a:defRPr sz="1500">
                <a:solidFill>
                  <a:srgbClr val="485A70"/>
                </a:solidFill>
                <a:latin typeface="Arial"/>
                <a:ea typeface="Arial"/>
                <a:cs typeface="Arial"/>
              </a:defRPr>
            </a:pPr>
            <a:r>
              <a:rPr sz="1800" b="1">
                <a:solidFill>
                  <a:srgbClr val="008BCE"/>
                </a:solidFill>
              </a:rPr>
              <a:t>2. INFRASTRUCTURE &amp; AFFORDABILITY</a:t>
            </a:r>
          </a:p>
          <a:p>
            <a:pPr algn="l">
              <a:spcAft>
                <a:spcPts val="600"/>
              </a:spcAft>
              <a:buNone/>
              <a:defRPr sz="1500">
                <a:solidFill>
                  <a:srgbClr val="485A70"/>
                </a:solidFill>
                <a:latin typeface="Arial"/>
                <a:ea typeface="Arial"/>
                <a:cs typeface="Arial"/>
              </a:defRPr>
            </a:pPr>
            <a:r>
              <a:rPr b="1">
                <a:solidFill>
                  <a:srgbClr val="152036"/>
                </a:solidFill>
              </a:rPr>
              <a:t>Risk visualization: </a:t>
            </a:r>
            <a:r>
              <a:rPr b="0">
                <a:solidFill>
                  <a:srgbClr val="485A70"/>
                </a:solidFill>
              </a:rPr>
              <a:t>GIS overlays measured deformation and interpreted risk zones near roads, railways and utilities.</a:t>
            </a:r>
          </a:p>
          <a:p>
            <a:pPr algn="l">
              <a:spcAft>
                <a:spcPts val="600"/>
              </a:spcAft>
              <a:buNone/>
              <a:defRPr sz="1500">
                <a:solidFill>
                  <a:srgbClr val="485A70"/>
                </a:solidFill>
                <a:latin typeface="Arial"/>
                <a:ea typeface="Arial"/>
                <a:cs typeface="Arial"/>
              </a:defRPr>
            </a:pPr>
            <a:r>
              <a:rPr b="1">
                <a:solidFill>
                  <a:srgbClr val="152036"/>
                </a:solidFill>
              </a:rPr>
              <a:t>Operational decisions: </a:t>
            </a:r>
            <a:r>
              <a:rPr b="0">
                <a:solidFill>
                  <a:srgbClr val="485A70"/>
                </a:solidFill>
              </a:rPr>
              <a:t>Trend histories help prioritize inspection and mitigation by qualified mine personnel.</a:t>
            </a:r>
          </a:p>
          <a:p>
            <a:pPr algn="l">
              <a:spcAft>
                <a:spcPts val="600"/>
              </a:spcAft>
              <a:buNone/>
              <a:defRPr sz="1500">
                <a:solidFill>
                  <a:srgbClr val="485A70"/>
                </a:solidFill>
                <a:latin typeface="Arial"/>
                <a:ea typeface="Arial"/>
                <a:cs typeface="Arial"/>
              </a:defRPr>
            </a:pPr>
            <a:r>
              <a:rPr b="1">
                <a:solidFill>
                  <a:srgbClr val="152036"/>
                </a:solidFill>
              </a:rPr>
              <a:t>Low-cost coverage: </a:t>
            </a:r>
            <a:r>
              <a:rPr b="0">
                <a:solidFill>
                  <a:srgbClr val="485A70"/>
                </a:solidFill>
              </a:rPr>
              <a:t>Estimated prototype node BOM supports a dense pilot network using accessible hardware.</a:t>
            </a:r>
          </a:p>
          <a:p>
            <a:pPr algn="l">
              <a:spcAft>
                <a:spcPts val="600"/>
              </a:spcAft>
              <a:buNone/>
              <a:defRPr sz="1500">
                <a:solidFill>
                  <a:srgbClr val="485A70"/>
                </a:solidFill>
                <a:latin typeface="Arial"/>
                <a:ea typeface="Arial"/>
                <a:cs typeface="Arial"/>
              </a:defRPr>
            </a:pPr>
            <a:r>
              <a:rPr b="1">
                <a:solidFill>
                  <a:srgbClr val="152036"/>
                </a:solidFill>
              </a:rPr>
              <a:t>Comparable budgeting: </a:t>
            </a:r>
            <a:r>
              <a:rPr b="0">
                <a:solidFill>
                  <a:srgbClr val="485A70"/>
                </a:solidFill>
              </a:rPr>
              <a:t>Compare complete deployments with equivalent coverage and performance after validation.</a:t>
            </a:r>
          </a:p>
        </p:txBody>
      </p:sp>
      <p:sp>
        <p:nvSpPr>
          <p:cNvPr id="11" name="Rounded Rectangle 10">
            <a:extLst>
              <a:ext uri="{FF2B5EF4-FFF2-40B4-BE49-F238E27FC236}">
                <a16:creationId xmlns:a16="http://schemas.microsoft.com/office/drawing/2014/main" id="{32CFE4C3-70E1-4D2C-815D-62D6265465F0}"/>
              </a:ext>
            </a:extLst>
          </p:cNvPr>
          <p:cNvSpPr>
            <a:spLocks noGrp="1"/>
          </p:cNvSpPr>
          <p:nvPr/>
        </p:nvSpPr>
        <p:spPr>
          <a:xfrm>
            <a:off x="731520" y="5989320"/>
            <a:ext cx="8229600" cy="3383280"/>
          </a:xfrm>
          <a:prstGeom prst="roundRect">
            <a:avLst/>
          </a:prstGeom>
          <a:solidFill>
            <a:srgbClr val="F8FAFC"/>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wrap="square" lIns="419100" tIns="228600" rIns="419100" bIns="228600" anchor="ctr">
            <a:noAutofit/>
          </a:bodyPr>
          <a:lstStyle/>
          <a:p>
            <a:pPr algn="l">
              <a:spcAft>
                <a:spcPts val="1400"/>
              </a:spcAft>
              <a:buNone/>
              <a:defRPr sz="1575">
                <a:solidFill>
                  <a:srgbClr val="485A70"/>
                </a:solidFill>
                <a:latin typeface="Arial"/>
                <a:ea typeface="Arial"/>
                <a:cs typeface="Arial"/>
              </a:defRPr>
            </a:pPr>
            <a:r>
              <a:rPr sz="1800" b="1">
                <a:solidFill>
                  <a:srgbClr val="13A34B"/>
                </a:solidFill>
              </a:rPr>
              <a:t>3. LAND &amp; ENVIRONMENTAL MONITORING</a:t>
            </a:r>
          </a:p>
          <a:p>
            <a:pPr algn="l">
              <a:spcAft>
                <a:spcPts val="800"/>
              </a:spcAft>
              <a:buNone/>
              <a:defRPr sz="1575">
                <a:solidFill>
                  <a:srgbClr val="485A70"/>
                </a:solidFill>
                <a:latin typeface="Arial"/>
                <a:ea typeface="Arial"/>
                <a:cs typeface="Arial"/>
              </a:defRPr>
            </a:pPr>
            <a:r>
              <a:rPr b="1">
                <a:solidFill>
                  <a:srgbClr val="152036"/>
                </a:solidFill>
              </a:rPr>
              <a:t>Surface crack tracking: </a:t>
            </a:r>
            <a:r>
              <a:rPr b="0">
                <a:solidFill>
                  <a:srgbClr val="485A70"/>
                </a:solidFill>
              </a:rPr>
              <a:t>Help identify locations requiring investigation and approved remedial action.</a:t>
            </a:r>
          </a:p>
          <a:p>
            <a:pPr algn="l">
              <a:spcAft>
                <a:spcPts val="800"/>
              </a:spcAft>
              <a:buNone/>
              <a:defRPr sz="1575">
                <a:solidFill>
                  <a:srgbClr val="485A70"/>
                </a:solidFill>
                <a:latin typeface="Arial"/>
                <a:ea typeface="Arial"/>
                <a:cs typeface="Arial"/>
              </a:defRPr>
            </a:pPr>
            <a:r>
              <a:rPr b="1">
                <a:solidFill>
                  <a:srgbClr val="152036"/>
                </a:solidFill>
              </a:rPr>
              <a:t>Sensitive land uses: </a:t>
            </a:r>
            <a:r>
              <a:rPr b="0">
                <a:solidFill>
                  <a:srgbClr val="485A70"/>
                </a:solidFill>
              </a:rPr>
              <a:t>Monitor movement near agricultural land, forests and water infrastructure above mine panels.</a:t>
            </a:r>
          </a:p>
          <a:p>
            <a:pPr algn="l">
              <a:spcAft>
                <a:spcPts val="800"/>
              </a:spcAft>
              <a:buNone/>
              <a:defRPr sz="1575">
                <a:solidFill>
                  <a:srgbClr val="485A70"/>
                </a:solidFill>
                <a:latin typeface="Arial"/>
                <a:ea typeface="Arial"/>
                <a:cs typeface="Arial"/>
              </a:defRPr>
            </a:pPr>
            <a:r>
              <a:rPr b="1">
                <a:solidFill>
                  <a:srgbClr val="152036"/>
                </a:solidFill>
              </a:rPr>
              <a:t>Monitoring evidence: </a:t>
            </a:r>
            <a:r>
              <a:rPr b="0">
                <a:solidFill>
                  <a:srgbClr val="485A70"/>
                </a:solidFill>
              </a:rPr>
              <a:t>Support environmental assessment. Sensors alone cannot prevent fires, aquifer damage or subsidence.</a:t>
            </a:r>
          </a:p>
        </p:txBody>
      </p:sp>
      <p:sp>
        <p:nvSpPr>
          <p:cNvPr id="12" name="Rounded Rectangle 11">
            <a:extLst>
              <a:ext uri="{FF2B5EF4-FFF2-40B4-BE49-F238E27FC236}">
                <a16:creationId xmlns:a16="http://schemas.microsoft.com/office/drawing/2014/main" id="{9B05121D-6C3C-4E72-B05B-6FA4F94385C2}"/>
              </a:ext>
            </a:extLst>
          </p:cNvPr>
          <p:cNvSpPr>
            <a:spLocks noGrp="1"/>
          </p:cNvSpPr>
          <p:nvPr/>
        </p:nvSpPr>
        <p:spPr>
          <a:xfrm>
            <a:off x="9326880" y="5989320"/>
            <a:ext cx="8229600" cy="3383280"/>
          </a:xfrm>
          <a:prstGeom prst="roundRect">
            <a:avLst/>
          </a:prstGeom>
          <a:solidFill>
            <a:srgbClr val="F8FAFC"/>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wrap="square" lIns="419100" tIns="228600" rIns="419100" bIns="228600" anchor="ctr">
            <a:noAutofit/>
          </a:bodyPr>
          <a:lstStyle/>
          <a:p>
            <a:pPr algn="l">
              <a:spcAft>
                <a:spcPts val="1400"/>
              </a:spcAft>
              <a:buNone/>
              <a:defRPr sz="1500">
                <a:solidFill>
                  <a:srgbClr val="485A70"/>
                </a:solidFill>
                <a:latin typeface="Arial"/>
                <a:ea typeface="Arial"/>
                <a:cs typeface="Arial"/>
              </a:defRPr>
            </a:pPr>
            <a:r>
              <a:rPr sz="1800" b="1">
                <a:solidFill>
                  <a:srgbClr val="8040FF"/>
                </a:solidFill>
              </a:rPr>
              <a:t>4. REPORTING &amp; DEPLOYMENT READINESS</a:t>
            </a:r>
          </a:p>
          <a:p>
            <a:pPr algn="l">
              <a:spcAft>
                <a:spcPts val="600"/>
              </a:spcAft>
              <a:buNone/>
              <a:defRPr sz="1500">
                <a:solidFill>
                  <a:srgbClr val="485A70"/>
                </a:solidFill>
                <a:latin typeface="Arial"/>
                <a:ea typeface="Arial"/>
                <a:cs typeface="Arial"/>
              </a:defRPr>
            </a:pPr>
            <a:r>
              <a:rPr b="1">
                <a:solidFill>
                  <a:srgbClr val="152036"/>
                </a:solidFill>
              </a:rPr>
              <a:t>Regulatory support: </a:t>
            </a:r>
            <a:r>
              <a:rPr b="0">
                <a:solidFill>
                  <a:srgbClr val="485A70"/>
                </a:solidFill>
              </a:rPr>
              <a:t>Designed to support monitoring/reporting aligned with relevant DGMS/CMR requirements.</a:t>
            </a:r>
          </a:p>
          <a:p>
            <a:pPr algn="l">
              <a:spcAft>
                <a:spcPts val="600"/>
              </a:spcAft>
              <a:buNone/>
              <a:defRPr sz="1500">
                <a:solidFill>
                  <a:srgbClr val="485A70"/>
                </a:solidFill>
                <a:latin typeface="Arial"/>
                <a:ea typeface="Arial"/>
                <a:cs typeface="Arial"/>
              </a:defRPr>
            </a:pPr>
            <a:r>
              <a:rPr b="1">
                <a:solidFill>
                  <a:srgbClr val="152036"/>
                </a:solidFill>
              </a:rPr>
              <a:t>CMR 2017: </a:t>
            </a:r>
            <a:r>
              <a:rPr b="0">
                <a:solidFill>
                  <a:srgbClr val="485A70"/>
                </a:solidFill>
              </a:rPr>
              <a:t>Reg. 111: Development work. Reg. 112: Depillaring operations.</a:t>
            </a:r>
          </a:p>
          <a:p>
            <a:pPr algn="l">
              <a:spcAft>
                <a:spcPts val="600"/>
              </a:spcAft>
              <a:buNone/>
              <a:defRPr sz="1500">
                <a:solidFill>
                  <a:srgbClr val="485A70"/>
                </a:solidFill>
                <a:latin typeface="Arial"/>
                <a:ea typeface="Arial"/>
                <a:cs typeface="Arial"/>
              </a:defRPr>
            </a:pPr>
            <a:r>
              <a:rPr b="1">
                <a:solidFill>
                  <a:srgbClr val="152036"/>
                </a:solidFill>
              </a:rPr>
              <a:t>Prototype evidence: </a:t>
            </a:r>
            <a:r>
              <a:rPr b="0">
                <a:solidFill>
                  <a:srgbClr val="485A70"/>
                </a:solidFill>
              </a:rPr>
              <a:t>ML uses controlled/simulated scenarios. Field calibration and real mine data required before deployment.</a:t>
            </a:r>
          </a:p>
          <a:p>
            <a:pPr algn="l">
              <a:spcAft>
                <a:spcPts val="600"/>
              </a:spcAft>
              <a:buNone/>
              <a:defRPr sz="1500">
                <a:solidFill>
                  <a:srgbClr val="485A70"/>
                </a:solidFill>
                <a:latin typeface="Arial"/>
                <a:ea typeface="Arial"/>
                <a:cs typeface="Arial"/>
              </a:defRPr>
            </a:pPr>
            <a:r>
              <a:rPr b="1">
                <a:solidFill>
                  <a:srgbClr val="152036"/>
                </a:solidFill>
              </a:rPr>
              <a:t>Reviewable records: </a:t>
            </a:r>
            <a:r>
              <a:rPr b="0">
                <a:solidFill>
                  <a:srgbClr val="485A70"/>
                </a:solidFill>
              </a:rPr>
              <a:t>Timestamped telemetry, alarms and calibration logs support review, not certified compliance.</a:t>
            </a:r>
          </a:p>
        </p:txBody>
      </p:sp>
    </p:spTree>
    <p:extLst>
      <p:ext uri="{BB962C8B-B14F-4D97-AF65-F5344CB8AC3E}">
        <p14:creationId xmlns:p14="http://schemas.microsoft.com/office/powerpoint/2010/main" val="1926041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95EA44EE-FAA9-4DFE-81F1-BD289F20BB76}"/>
              </a:ext>
            </a:extLst>
          </p:cNvPr>
          <p:cNvSpPr>
            <a:spLocks noGrp="1"/>
          </p:cNvSpPr>
          <p:nvPr/>
        </p:nvSpPr>
        <p:spPr>
          <a:xfrm>
            <a:off x="731520" y="320040"/>
            <a:ext cx="2011680" cy="1005840"/>
          </a:xfrm>
          <a:prstGeom prst="ellipse">
            <a:avLst/>
          </a:prstGeom>
          <a:solidFill>
            <a:srgbClr val="FFFFFF"/>
          </a:solidFill>
          <a:ln w="31750">
            <a:solidFill>
              <a:srgbClr val="5C2D91"/>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defRPr sz="1300" b="1">
                <a:solidFill>
                  <a:srgbClr val="5C2D91"/>
                </a:solidFill>
                <a:latin typeface="Arial"/>
                <a:ea typeface="Arial"/>
                <a:cs typeface="Arial"/>
              </a:defRPr>
            </a:pPr>
            <a:r>
              <a:t>TEAM</a:t>
            </a:r>
          </a:p>
          <a:p>
            <a:pPr algn="ctr">
              <a:buNone/>
              <a:defRPr sz="1500" b="1">
                <a:solidFill>
                  <a:srgbClr val="5C2D91"/>
                </a:solidFill>
                <a:latin typeface="Arial"/>
                <a:ea typeface="Arial"/>
                <a:cs typeface="Arial"/>
              </a:defRPr>
            </a:pPr>
            <a:r>
              <a:t>MineNova6</a:t>
            </a:r>
          </a:p>
        </p:txBody>
      </p:sp>
      <p:sp>
        <p:nvSpPr>
          <p:cNvPr id="3" name="TextBox 2">
            <a:extLst>
              <a:ext uri="{FF2B5EF4-FFF2-40B4-BE49-F238E27FC236}">
                <a16:creationId xmlns:a16="http://schemas.microsoft.com/office/drawing/2014/main" id="{0D4EDC6F-B1C3-4B0F-89D5-9BD52ED6ACFB}"/>
              </a:ext>
            </a:extLst>
          </p:cNvPr>
          <p:cNvSpPr>
            <a:spLocks noGrp="1"/>
          </p:cNvSpPr>
          <p:nvPr/>
        </p:nvSpPr>
        <p:spPr>
          <a:xfrm>
            <a:off x="2926080" y="365760"/>
            <a:ext cx="11887200" cy="1005840"/>
          </a:xfrm>
          <a:prstGeom prst="rect">
            <a:avLst/>
          </a:prstGeom>
          <a:noFill/>
        </p:spPr>
        <p:txBody>
          <a:bodyPr wrap="square">
            <a:spAutoFit/>
          </a:bodyPr>
          <a:lstStyle/>
          <a:p>
            <a:pPr algn="ctr">
              <a:buNone/>
              <a:defRPr sz="3600" b="1">
                <a:solidFill>
                  <a:srgbClr val="1F497D"/>
                </a:solidFill>
                <a:latin typeface="Times New Roman"/>
                <a:ea typeface="Times New Roman"/>
                <a:cs typeface="Times New Roman"/>
              </a:defRPr>
            </a:pPr>
            <a:r>
              <a:t>RESEARCH AND REFERENCES</a:t>
            </a:r>
          </a:p>
        </p:txBody>
      </p:sp>
      <p:pic>
        <p:nvPicPr>
          <p:cNvPr id="13" name="Picture 3"/>
          <p:cNvPicPr>
            <a:picLocks noChangeAspect="1"/>
          </p:cNvPicPr>
          <p:nvPr/>
        </p:nvPicPr>
        <p:blipFill>
          <a:blip r:embed="rId3"/>
          <a:stretch>
            <a:fillRect/>
          </a:stretch>
        </p:blipFill>
        <p:spPr>
          <a:xfrm>
            <a:off x="15179040" y="274320"/>
            <a:ext cx="2560320" cy="1146309"/>
          </a:xfrm>
          <a:prstGeom prst="rect">
            <a:avLst/>
          </a:prstGeom>
        </p:spPr>
      </p:pic>
      <p:sp>
        <p:nvSpPr>
          <p:cNvPr id="5" name="Rectangle 4">
            <a:extLst>
              <a:ext uri="{FF2B5EF4-FFF2-40B4-BE49-F238E27FC236}">
                <a16:creationId xmlns:a16="http://schemas.microsoft.com/office/drawing/2014/main" id="{1A08CE29-FAF5-4327-97DE-5DA626050A29}"/>
              </a:ext>
            </a:extLst>
          </p:cNvPr>
          <p:cNvSpPr>
            <a:spLocks noGrp="1"/>
          </p:cNvSpPr>
          <p:nvPr/>
        </p:nvSpPr>
        <p:spPr>
          <a:xfrm>
            <a:off x="0" y="9601200"/>
            <a:ext cx="18288000" cy="685800"/>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C455337-0743-46E3-B674-CE6AB22D80A3}"/>
              </a:ext>
            </a:extLst>
          </p:cNvPr>
          <p:cNvSpPr>
            <a:spLocks noGrp="1"/>
          </p:cNvSpPr>
          <p:nvPr/>
        </p:nvSpPr>
        <p:spPr>
          <a:xfrm>
            <a:off x="4572000" y="9646920"/>
            <a:ext cx="9144000" cy="594360"/>
          </a:xfrm>
          <a:prstGeom prst="rect">
            <a:avLst/>
          </a:prstGeom>
          <a:noFill/>
        </p:spPr>
        <p:txBody>
          <a:bodyPr wrap="none">
            <a:spAutoFit/>
          </a:bodyPr>
          <a:lstStyle/>
          <a:p>
            <a:pPr algn="ctr">
              <a:buNone/>
              <a:defRPr sz="1500" b="1">
                <a:solidFill>
                  <a:srgbClr val="FFFFFF"/>
                </a:solidFill>
                <a:latin typeface="Arial"/>
                <a:ea typeface="Arial"/>
                <a:cs typeface="Arial"/>
              </a:defRPr>
            </a:pPr>
            <a:r>
              <a:t>@SIH Idea submission- Template</a:t>
            </a:r>
          </a:p>
        </p:txBody>
      </p:sp>
      <p:sp>
        <p:nvSpPr>
          <p:cNvPr id="7" name="TextBox 6">
            <a:extLst>
              <a:ext uri="{FF2B5EF4-FFF2-40B4-BE49-F238E27FC236}">
                <a16:creationId xmlns:a16="http://schemas.microsoft.com/office/drawing/2014/main" id="{E8C367AF-D9C2-49F9-BDD6-4FFEE3F457B3}"/>
              </a:ext>
            </a:extLst>
          </p:cNvPr>
          <p:cNvSpPr>
            <a:spLocks noGrp="1"/>
          </p:cNvSpPr>
          <p:nvPr/>
        </p:nvSpPr>
        <p:spPr>
          <a:xfrm>
            <a:off x="16642080" y="9646920"/>
            <a:ext cx="1280160" cy="594360"/>
          </a:xfrm>
          <a:prstGeom prst="rect">
            <a:avLst/>
          </a:prstGeom>
          <a:noFill/>
        </p:spPr>
        <p:txBody>
          <a:bodyPr wrap="none">
            <a:spAutoFit/>
          </a:bodyPr>
          <a:lstStyle/>
          <a:p>
            <a:pPr algn="r">
              <a:buNone/>
              <a:defRPr sz="1600" b="1">
                <a:solidFill>
                  <a:srgbClr val="FFFFFF"/>
                </a:solidFill>
                <a:latin typeface="Arial"/>
                <a:ea typeface="Arial"/>
                <a:cs typeface="Arial"/>
              </a:defRPr>
            </a:pPr>
            <a:r>
              <a:t>6</a:t>
            </a:r>
          </a:p>
        </p:txBody>
      </p:sp>
      <p:sp>
        <p:nvSpPr>
          <p:cNvPr id="8" name="TextBox 7">
            <a:extLst>
              <a:ext uri="{FF2B5EF4-FFF2-40B4-BE49-F238E27FC236}">
                <a16:creationId xmlns:a16="http://schemas.microsoft.com/office/drawing/2014/main" id="{E84F10F4-F4B2-47E8-AD7F-444761433D49}"/>
              </a:ext>
            </a:extLst>
          </p:cNvPr>
          <p:cNvSpPr>
            <a:spLocks noGrp="1"/>
          </p:cNvSpPr>
          <p:nvPr/>
        </p:nvSpPr>
        <p:spPr>
          <a:xfrm>
            <a:off x="731520" y="1463040"/>
            <a:ext cx="16824960" cy="548640"/>
          </a:xfrm>
          <a:prstGeom prst="rect">
            <a:avLst/>
          </a:prstGeom>
          <a:noFill/>
        </p:spPr>
        <p:txBody>
          <a:bodyPr wrap="none">
            <a:spAutoFit/>
          </a:bodyPr>
          <a:lstStyle/>
          <a:p>
            <a:pPr>
              <a:buNone/>
              <a:defRPr sz="2200" b="1" u="sng">
                <a:solidFill>
                  <a:srgbClr val="006FC0"/>
                </a:solidFill>
                <a:latin typeface="Arial"/>
                <a:ea typeface="Arial"/>
                <a:cs typeface="Arial"/>
              </a:defRPr>
            </a:pPr>
            <a:r>
              <a:t>❖ Verified Official Sources &amp; Geotechnical Literature</a:t>
            </a:r>
          </a:p>
        </p:txBody>
      </p:sp>
      <p:sp>
        <p:nvSpPr>
          <p:cNvPr id="9" name="Rounded Rectangle 8">
            <a:extLst>
              <a:ext uri="{FF2B5EF4-FFF2-40B4-BE49-F238E27FC236}">
                <a16:creationId xmlns:a16="http://schemas.microsoft.com/office/drawing/2014/main" id="{A953F0AD-5693-456F-8D1D-9C42AD99810D}"/>
              </a:ext>
            </a:extLst>
          </p:cNvPr>
          <p:cNvSpPr>
            <a:spLocks noGrp="1"/>
          </p:cNvSpPr>
          <p:nvPr/>
        </p:nvSpPr>
        <p:spPr>
          <a:xfrm>
            <a:off x="731520" y="2148840"/>
            <a:ext cx="16824960" cy="7132320"/>
          </a:xfrm>
          <a:prstGeom prst="roundRect">
            <a:avLst/>
          </a:prstGeom>
          <a:solidFill>
            <a:srgbClr val="F8FAFC"/>
          </a:solidFill>
          <a:ln w="25400">
            <a:solidFill>
              <a:srgbClr val="1F497D"/>
            </a:solidFill>
          </a:ln>
        </p:spPr>
        <p:style>
          <a:lnRef idx="1">
            <a:schemeClr val="accent1"/>
          </a:lnRef>
          <a:fillRef idx="3">
            <a:schemeClr val="accent1"/>
          </a:fillRef>
          <a:effectRef idx="2">
            <a:schemeClr val="accent1"/>
          </a:effectRef>
          <a:fontRef idx="minor">
            <a:schemeClr val="lt1"/>
          </a:fontRef>
        </p:style>
        <p:txBody>
          <a:bodyPr wrap="square" lIns="742950" tIns="428625" rIns="742950" bIns="428625" anchor="ctr">
            <a:noAutofit/>
          </a:bodyPr>
          <a:lstStyle/>
          <a:p>
            <a:pPr algn="l">
              <a:spcAft>
                <a:spcPts val="1600"/>
              </a:spcAft>
              <a:defRPr sz="1725">
                <a:solidFill>
                  <a:srgbClr val="152036"/>
                </a:solidFill>
                <a:latin typeface="Arial"/>
                <a:ea typeface="Arial"/>
                <a:cs typeface="Arial"/>
              </a:defRPr>
            </a:pPr>
            <a:r>
              <a:rPr sz="1725" b="1">
                <a:solidFill>
                  <a:srgbClr val="152036"/>
                </a:solidFill>
                <a:latin typeface="Arial"/>
                <a:ea typeface="Arial"/>
                <a:cs typeface="Arial"/>
                <a:hlinkClick r:id="rId4"/>
              </a:rPr>
              <a:t>[1] DGMS / Ministry of Labour &amp; Employment (2017)</a:t>
            </a:r>
            <a:r>
              <a:rPr sz="1725" b="1">
                <a:solidFill>
                  <a:srgbClr val="152036"/>
                </a:solidFill>
                <a:latin typeface="Arial"/>
                <a:ea typeface="Arial"/>
                <a:cs typeface="Arial"/>
              </a:rPr>
              <a:t>  </a:t>
            </a:r>
            <a:r>
              <a:rPr sz="1725" b="0">
                <a:solidFill>
                  <a:srgbClr val="152036"/>
                </a:solidFill>
                <a:latin typeface="Arial"/>
                <a:ea typeface="Arial"/>
                <a:cs typeface="Arial"/>
              </a:rPr>
              <a:t>The Coal Mines Regulations, 2017. Reg. 111: Development work. Reg. 112: Depillaring operations. Official Gazette text.</a:t>
            </a:r>
          </a:p>
          <a:p>
            <a:pPr algn="l">
              <a:spcAft>
                <a:spcPts val="1600"/>
              </a:spcAft>
              <a:defRPr sz="1725">
                <a:solidFill>
                  <a:srgbClr val="152036"/>
                </a:solidFill>
                <a:latin typeface="Arial"/>
                <a:ea typeface="Arial"/>
                <a:cs typeface="Arial"/>
              </a:defRPr>
            </a:pPr>
            <a:r>
              <a:rPr sz="1725" b="1">
                <a:solidFill>
                  <a:srgbClr val="152036"/>
                </a:solidFill>
                <a:latin typeface="Arial"/>
                <a:ea typeface="Arial"/>
                <a:cs typeface="Arial"/>
                <a:hlinkClick r:id="rId5"/>
              </a:rPr>
              <a:t>[2] Ministry of Coal (25 June 2025)</a:t>
            </a:r>
            <a:r>
              <a:rPr sz="1725" b="1">
                <a:solidFill>
                  <a:srgbClr val="152036"/>
                </a:solidFill>
                <a:latin typeface="Arial"/>
                <a:ea typeface="Arial"/>
                <a:cs typeface="Arial"/>
              </a:rPr>
              <a:t>  </a:t>
            </a:r>
            <a:r>
              <a:rPr sz="1725" b="0">
                <a:solidFill>
                  <a:srgbClr val="152036"/>
                </a:solidFill>
                <a:latin typeface="Arial"/>
                <a:ea typeface="Arial"/>
                <a:cs typeface="Arial"/>
              </a:rPr>
              <a:t>Cabinet approval of the Revised Jharia Master Plan for fire, subsidence and rehabilitation. Release ID 2139495.</a:t>
            </a:r>
          </a:p>
          <a:p>
            <a:pPr algn="l">
              <a:spcAft>
                <a:spcPts val="1600"/>
              </a:spcAft>
              <a:defRPr sz="1725">
                <a:solidFill>
                  <a:srgbClr val="152036"/>
                </a:solidFill>
                <a:latin typeface="Arial"/>
                <a:ea typeface="Arial"/>
                <a:cs typeface="Arial"/>
              </a:defRPr>
            </a:pPr>
            <a:r>
              <a:rPr sz="1725" b="1">
                <a:solidFill>
                  <a:srgbClr val="152036"/>
                </a:solidFill>
                <a:latin typeface="Arial"/>
                <a:ea typeface="Arial"/>
                <a:cs typeface="Arial"/>
                <a:hlinkClick r:id="rId6"/>
              </a:rPr>
              <a:t>[3] Misa, R. (2023)</a:t>
            </a:r>
            <a:r>
              <a:rPr sz="1725" b="1">
                <a:solidFill>
                  <a:srgbClr val="152036"/>
                </a:solidFill>
                <a:latin typeface="Arial"/>
                <a:ea typeface="Arial"/>
                <a:cs typeface="Arial"/>
              </a:rPr>
              <a:t>  </a:t>
            </a:r>
            <a:r>
              <a:rPr sz="1725" b="0">
                <a:solidFill>
                  <a:srgbClr val="152036"/>
                </a:solidFill>
                <a:latin typeface="Arial"/>
                <a:ea typeface="Arial"/>
                <a:cs typeface="Arial"/>
              </a:rPr>
              <a:t>Knothe’s theory parameters – computational models and examples of practical applications. Mineral Resources Management 39(4), 157–180. DOI: 10.24425/gsm.2023.148164.</a:t>
            </a:r>
          </a:p>
          <a:p>
            <a:pPr algn="l">
              <a:spcAft>
                <a:spcPts val="1600"/>
              </a:spcAft>
              <a:defRPr sz="1725">
                <a:solidFill>
                  <a:srgbClr val="152036"/>
                </a:solidFill>
                <a:latin typeface="Arial"/>
                <a:ea typeface="Arial"/>
                <a:cs typeface="Arial"/>
              </a:defRPr>
            </a:pPr>
            <a:r>
              <a:rPr sz="1725" b="1">
                <a:solidFill>
                  <a:srgbClr val="152036"/>
                </a:solidFill>
                <a:latin typeface="Arial"/>
                <a:ea typeface="Arial"/>
                <a:cs typeface="Arial"/>
                <a:hlinkClick r:id="rId7"/>
              </a:rPr>
              <a:t>[4] Saito, M. (1965)</a:t>
            </a:r>
            <a:r>
              <a:rPr sz="1725" b="1">
                <a:solidFill>
                  <a:srgbClr val="152036"/>
                </a:solidFill>
                <a:latin typeface="Arial"/>
                <a:ea typeface="Arial"/>
                <a:cs typeface="Arial"/>
              </a:rPr>
              <a:t>  </a:t>
            </a:r>
            <a:r>
              <a:rPr sz="1725" b="0">
                <a:solidFill>
                  <a:srgbClr val="152036"/>
                </a:solidFill>
                <a:latin typeface="Arial"/>
                <a:ea typeface="Arial"/>
                <a:cs typeface="Arial"/>
              </a:rPr>
              <a:t>Forecasting the Time of Occurrence of a Slope Failure. Proceedings, 6th ICSMFE, Montréal, Vol. 2, pp. 537–541. ISSMGE archive.</a:t>
            </a:r>
          </a:p>
          <a:p>
            <a:pPr algn="l">
              <a:spcAft>
                <a:spcPts val="1600"/>
              </a:spcAft>
              <a:defRPr sz="1725">
                <a:solidFill>
                  <a:srgbClr val="152036"/>
                </a:solidFill>
                <a:latin typeface="Arial"/>
                <a:ea typeface="Arial"/>
                <a:cs typeface="Arial"/>
              </a:defRPr>
            </a:pPr>
            <a:r>
              <a:rPr sz="1725" b="1">
                <a:solidFill>
                  <a:srgbClr val="152036"/>
                </a:solidFill>
                <a:latin typeface="Arial"/>
                <a:ea typeface="Arial"/>
                <a:cs typeface="Arial"/>
                <a:hlinkClick r:id="rId8"/>
              </a:rPr>
              <a:t>[5] Fukuzono, T. (1985)</a:t>
            </a:r>
            <a:r>
              <a:rPr sz="1725" b="1">
                <a:solidFill>
                  <a:srgbClr val="152036"/>
                </a:solidFill>
                <a:latin typeface="Arial"/>
                <a:ea typeface="Arial"/>
                <a:cs typeface="Arial"/>
              </a:rPr>
              <a:t>  </a:t>
            </a:r>
            <a:r>
              <a:rPr sz="1725" b="0">
                <a:solidFill>
                  <a:srgbClr val="152036"/>
                </a:solidFill>
                <a:latin typeface="Arial"/>
                <a:ea typeface="Arial"/>
                <a:cs typeface="Arial"/>
              </a:rPr>
              <a:t>A Method to Predict the Time of Slope Failure Caused by Rainfall Using the Inverse Number of Velocity of Surface Displacement. Landslides 22(2), 8–13. DOI: 10.3313/jls1964.22.2_8.</a:t>
            </a:r>
          </a:p>
          <a:p>
            <a:pPr algn="l">
              <a:spcAft>
                <a:spcPts val="1600"/>
              </a:spcAft>
              <a:defRPr sz="1725">
                <a:solidFill>
                  <a:srgbClr val="152036"/>
                </a:solidFill>
                <a:latin typeface="Arial"/>
                <a:ea typeface="Arial"/>
                <a:cs typeface="Arial"/>
              </a:defRPr>
            </a:pPr>
            <a:r>
              <a:rPr sz="1725" b="1">
                <a:solidFill>
                  <a:srgbClr val="152036"/>
                </a:solidFill>
                <a:latin typeface="Arial"/>
                <a:ea typeface="Arial"/>
                <a:cs typeface="Arial"/>
                <a:hlinkClick r:id="rId9"/>
              </a:rPr>
              <a:t>[6] Department of Telecommunications / WPC (2021)</a:t>
            </a:r>
            <a:r>
              <a:rPr sz="1725" b="1">
                <a:solidFill>
                  <a:srgbClr val="152036"/>
                </a:solidFill>
                <a:latin typeface="Arial"/>
                <a:ea typeface="Arial"/>
                <a:cs typeface="Arial"/>
              </a:rPr>
              <a:t>  </a:t>
            </a:r>
            <a:r>
              <a:rPr sz="1725" b="0">
                <a:solidFill>
                  <a:srgbClr val="152036"/>
                </a:solidFill>
                <a:latin typeface="Arial"/>
                <a:ea typeface="Arial"/>
                <a:cs typeface="Arial"/>
              </a:rPr>
              <a:t>Use of Low Power Equipment in the Frequency Band 865–868 MHz for Short Range Devices (Exemption from Licence) Rules, 2021. G.S.R. 853(E), 10 December 2021.</a:t>
            </a:r>
          </a:p>
          <a:p>
            <a:pPr algn="l">
              <a:spcAft>
                <a:spcPts val="1600"/>
              </a:spcAft>
              <a:defRPr sz="1725">
                <a:solidFill>
                  <a:srgbClr val="152036"/>
                </a:solidFill>
                <a:latin typeface="Arial"/>
                <a:ea typeface="Arial"/>
                <a:cs typeface="Arial"/>
              </a:defRPr>
            </a:pPr>
            <a:r>
              <a:rPr sz="1725" b="1">
                <a:solidFill>
                  <a:srgbClr val="152036"/>
                </a:solidFill>
                <a:latin typeface="Arial"/>
                <a:ea typeface="Arial"/>
                <a:cs typeface="Arial"/>
                <a:hlinkClick r:id="rId10"/>
              </a:rPr>
              <a:t>[7] ISRO (2023)</a:t>
            </a:r>
            <a:r>
              <a:rPr sz="1725" b="1">
                <a:solidFill>
                  <a:srgbClr val="152036"/>
                </a:solidFill>
                <a:latin typeface="Arial"/>
                <a:ea typeface="Arial"/>
                <a:cs typeface="Arial"/>
              </a:rPr>
              <a:t>  </a:t>
            </a:r>
            <a:r>
              <a:rPr sz="1725" b="0">
                <a:solidFill>
                  <a:srgbClr val="152036"/>
                </a:solidFill>
                <a:latin typeface="Arial"/>
                <a:ea typeface="Arial"/>
                <a:cs typeface="Arial"/>
              </a:rPr>
              <a:t>PSLV-C56 / DS-SAR Mission. Official mission description confirms all-weather, day-and-night SAR coverage.</a:t>
            </a:r>
          </a:p>
        </p:txBody>
      </p:sp>
    </p:spTree>
    <p:extLst>
      <p:ext uri="{BB962C8B-B14F-4D97-AF65-F5344CB8AC3E}">
        <p14:creationId xmlns:p14="http://schemas.microsoft.com/office/powerpoint/2010/main" val="1879155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2417</Words>
  <Application>Microsoft Office PowerPoint</Application>
  <DocSecurity>0</DocSecurity>
  <PresentationFormat>Custom</PresentationFormat>
  <Paragraphs>171</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Garamond</vt:lpstr>
      <vt:lpstr>Roboto Condensed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Zayyan</cp:lastModifiedBy>
  <cp:revision>1</cp:revision>
  <dcterms:created xsi:type="dcterms:W3CDTF">2026-09-11T15:07:26Z</dcterms:created>
  <dcterms:modified xsi:type="dcterms:W3CDTF">2026-09-11T15:10:23Z</dcterms:modified>
</cp:coreProperties>
</file>