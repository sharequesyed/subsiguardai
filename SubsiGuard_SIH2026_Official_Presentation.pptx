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2B5D8-00C4-4BC3-B449-E07FB7443EC1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A223A-20F9-4487-8A79-96B369A8A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2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042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11330092" y="1534449"/>
            <a:ext cx="6957908" cy="7732451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2700" dirty="0"/>
          </a:p>
        </p:txBody>
      </p:sp>
      <p:pic>
        <p:nvPicPr>
          <p:cNvPr id="50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3154417" y="3279127"/>
            <a:ext cx="4805264" cy="5139356"/>
          </a:xfrm>
          <a:prstGeom prst="rect">
            <a:avLst/>
          </a:prstGeom>
        </p:spPr>
      </p:pic>
      <p:pic>
        <p:nvPicPr>
          <p:cNvPr id="51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D7AB7FA-DED4-4148-B167-ED0307EA7B89}"/>
              </a:ext>
            </a:extLst>
          </p:cNvPr>
          <p:cNvSpPr>
            <a:spLocks noGrp="1"/>
          </p:cNvSpPr>
          <p:nvPr/>
        </p:nvSpPr>
        <p:spPr>
          <a:xfrm>
            <a:off x="3762663" y="268166"/>
            <a:ext cx="10762673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450" b="1">
                <a:solidFill>
                  <a:srgbClr val="214E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 dirty="0">
                <a:solidFill>
                  <a:srgbClr val="214E80"/>
                </a:solidFill>
                <a:latin typeface="Garamond" panose="02020404030301010803" pitchFamily="18" charset="0"/>
                <a:ea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D5D681-D291-4C79-B194-B59A0944BD1F}"/>
              </a:ext>
            </a:extLst>
          </p:cNvPr>
          <p:cNvSpPr>
            <a:spLocks noGrp="1"/>
          </p:cNvSpPr>
          <p:nvPr/>
        </p:nvSpPr>
        <p:spPr>
          <a:xfrm>
            <a:off x="419100" y="1814513"/>
            <a:ext cx="94297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500" b="1">
                <a:solidFill>
                  <a:srgbClr val="214E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0" b="1" dirty="0">
                <a:solidFill>
                  <a:srgbClr val="214E80"/>
                </a:solidFill>
                <a:latin typeface="Times New Roman"/>
                <a:ea typeface="Times New Roman"/>
                <a:cs typeface="Times New Roman"/>
              </a:rPr>
              <a:t>MineGuard AI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951E43-E21C-48D0-9E82-28FE790E8EE7}"/>
              </a:ext>
            </a:extLst>
          </p:cNvPr>
          <p:cNvSpPr>
            <a:spLocks noGrp="1"/>
          </p:cNvSpPr>
          <p:nvPr/>
        </p:nvSpPr>
        <p:spPr>
          <a:xfrm>
            <a:off x="419100" y="2928938"/>
            <a:ext cx="900112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3038" dirty="0">
                <a:solidFill>
                  <a:srgbClr val="526879"/>
                </a:solidFill>
                <a:latin typeface="Arial"/>
                <a:ea typeface="Arial"/>
                <a:cs typeface="Arial"/>
              </a:rPr>
              <a:t>Mine subsidence monitoring &amp; early warning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31986E-D412-4A5F-9AC0-6C0AD994CB38}"/>
              </a:ext>
            </a:extLst>
          </p:cNvPr>
          <p:cNvSpPr>
            <a:spLocks noGrp="1"/>
          </p:cNvSpPr>
          <p:nvPr/>
        </p:nvSpPr>
        <p:spPr>
          <a:xfrm>
            <a:off x="382268" y="3992808"/>
            <a:ext cx="9001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Problem Statement ID:</a:t>
            </a:r>
            <a:r>
              <a:rPr lang="en-US"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     </a:t>
            </a:r>
            <a:r>
              <a:rPr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 SIH26025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701993-73CB-4F8A-8D3B-51CDBB69AA2A}"/>
              </a:ext>
            </a:extLst>
          </p:cNvPr>
          <p:cNvSpPr>
            <a:spLocks noGrp="1"/>
          </p:cNvSpPr>
          <p:nvPr/>
        </p:nvSpPr>
        <p:spPr>
          <a:xfrm>
            <a:off x="382268" y="4849507"/>
            <a:ext cx="90011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214E80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214E80"/>
                </a:solidFill>
                <a:latin typeface="Arial"/>
                <a:ea typeface="Arial"/>
                <a:cs typeface="Arial"/>
              </a:rPr>
              <a:t>Problem Statement Title</a:t>
            </a:r>
            <a:r>
              <a:rPr lang="en-US" sz="3150" b="1" dirty="0">
                <a:solidFill>
                  <a:srgbClr val="214E80"/>
                </a:solidFill>
                <a:latin typeface="Arial"/>
                <a:ea typeface="Arial"/>
                <a:cs typeface="Arial"/>
              </a:rPr>
              <a:t>:-</a:t>
            </a:r>
            <a:endParaRPr sz="3150" b="1" dirty="0">
              <a:solidFill>
                <a:srgbClr val="214E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851D41-8BCF-409E-B672-BC1D10D05792}"/>
              </a:ext>
            </a:extLst>
          </p:cNvPr>
          <p:cNvSpPr>
            <a:spLocks noGrp="1"/>
          </p:cNvSpPr>
          <p:nvPr/>
        </p:nvSpPr>
        <p:spPr>
          <a:xfrm>
            <a:off x="5405438" y="4757737"/>
            <a:ext cx="7955910" cy="2057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sz="3038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Development of an AI-enabled Low Cost Real Time Mine Subsidence Monitoring, Prediction and Early Warning System for Underground Coal Mines in India.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BC8BD7-F660-4548-8DD2-93E769358CBD}"/>
              </a:ext>
            </a:extLst>
          </p:cNvPr>
          <p:cNvSpPr>
            <a:spLocks noGrp="1"/>
          </p:cNvSpPr>
          <p:nvPr/>
        </p:nvSpPr>
        <p:spPr>
          <a:xfrm>
            <a:off x="504825" y="7024140"/>
            <a:ext cx="11187217" cy="10715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Theme: </a:t>
            </a:r>
            <a:r>
              <a:rPr lang="en-US" sz="3150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							   Smart Automation</a:t>
            </a:r>
          </a:p>
          <a:p>
            <a:pPr>
              <a:defRPr sz="1950" b="0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endParaRPr sz="3150" dirty="0">
              <a:solidFill>
                <a:srgbClr val="193247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PS Category: </a:t>
            </a:r>
            <a:r>
              <a:rPr lang="en-US" sz="3150" b="1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					   </a:t>
            </a:r>
            <a:r>
              <a:rPr sz="3150" dirty="0">
                <a:solidFill>
                  <a:srgbClr val="193247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888CB1-006A-4276-AE09-FA027B1DE981}"/>
              </a:ext>
            </a:extLst>
          </p:cNvPr>
          <p:cNvSpPr>
            <a:spLocks noGrp="1"/>
          </p:cNvSpPr>
          <p:nvPr/>
        </p:nvSpPr>
        <p:spPr>
          <a:xfrm>
            <a:off x="504825" y="8612063"/>
            <a:ext cx="9286875" cy="10715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93247"/>
                </a:solidFill>
                <a:latin typeface="Roboto Condensed" panose="02000000000000000000" pitchFamily="2" charset="0"/>
                <a:ea typeface="Arial"/>
                <a:cs typeface="Arial"/>
              </a:rPr>
              <a:t>Team Name:  						   MineNova6</a:t>
            </a:r>
          </a:p>
          <a:p>
            <a:pPr>
              <a:defRPr sz="1875" b="1">
                <a:solidFill>
                  <a:srgbClr val="193247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93247"/>
                </a:solidFill>
                <a:latin typeface="Roboto Condensed" panose="02000000000000000000" pitchFamily="2" charset="0"/>
                <a:ea typeface="Arial"/>
                <a:cs typeface="Arial"/>
              </a:rPr>
              <a:t>Team ID:  [To be assigned]</a:t>
            </a:r>
            <a:endParaRPr sz="3000" b="1" dirty="0">
              <a:solidFill>
                <a:srgbClr val="193247"/>
              </a:solidFill>
              <a:latin typeface="Roboto Condensed" panose="02000000000000000000" pitchFamily="2" charset="0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84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20040"/>
            <a:ext cx="201168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C2D91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500" b="1">
                <a:solidFill>
                  <a:srgbClr val="5C2D91"/>
                </a:solidFill>
                <a:latin typeface="Arial"/>
              </a:defRPr>
            </a:pPr>
            <a:r>
              <a:t>MineNova6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1188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SubsiGuard: Autonomous IoT &amp; Edge AI Early Warning System</a:t>
            </a:r>
          </a:p>
        </p:txBody>
      </p:sp>
      <p:pic>
        <p:nvPicPr>
          <p:cNvPr id="4" name="Picture 3" descr="clean_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0" y="274320"/>
            <a:ext cx="2560320" cy="1146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64692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280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82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u="sng">
                <a:solidFill>
                  <a:srgbClr val="006FC0"/>
                </a:solidFill>
                <a:latin typeface="Arial"/>
              </a:defRPr>
            </a:pPr>
            <a:r>
              <a:t>❖ Proposed Solution (Describe your Idea / Solution / 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8229600" cy="5394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DC2626"/>
                </a:solidFill>
                <a:latin typeface="Arial"/>
              </a:defRPr>
            </a:pPr>
            <a:r>
              <a:t>EXISTING SOLUTIONS &amp; LIMITATIONS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Satellite InSAR &amp; Remote Sensing: </a:t>
            </a:r>
            <a:r>
              <a:rPr sz="1550">
                <a:solidFill>
                  <a:srgbClr val="475569"/>
                </a:solidFill>
                <a:latin typeface="Arial"/>
              </a:rPr>
              <a:t>12-day orbital revisit latency; blind to sudden rapid sinkhole drops and obscured during heavy monsoon cloud cover.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Total Station Optical Ground Survey: </a:t>
            </a:r>
            <a:r>
              <a:rPr sz="1550">
                <a:solidFill>
                  <a:srgbClr val="475569"/>
                </a:solidFill>
                <a:latin typeface="Arial"/>
              </a:rPr>
              <a:t>Manual and periodic (weekly/monthly); surveyors are physically exposed to active ground fissures, tension cracks, and void hazards.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Micro-Seismic Monitoring Arrays: </a:t>
            </a:r>
            <a:r>
              <a:rPr sz="1550">
                <a:solidFill>
                  <a:srgbClr val="475569"/>
                </a:solidFill>
                <a:latin typeface="Arial"/>
              </a:rPr>
              <a:t>High capex (&gt; ₹50 Lakhs per panel) with heavy power consumption; blind to slow continuous plastic strata creep and non-seismic deformations.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Borehole Rod Extensometers: </a:t>
            </a:r>
            <a:r>
              <a:rPr sz="1550">
                <a:solidFill>
                  <a:srgbClr val="475569"/>
                </a:solidFill>
                <a:latin typeface="Arial"/>
              </a:rPr>
              <a:t>Single-point measurement with extreme drilling costs; vulnerable to deep shear shear-off before critical alarms can be triggered.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148840"/>
            <a:ext cx="8229600" cy="5394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16A34A"/>
                </a:solidFill>
                <a:latin typeface="Arial"/>
              </a:defRPr>
            </a:pPr>
            <a:r>
              <a:t>SUBSIGUARD: AUTONOMOUS IOT SOLUTION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1 Hz Continuous Surface Telemetry: </a:t>
            </a:r>
            <a:r>
              <a:rPr sz="1550">
                <a:solidFill>
                  <a:srgbClr val="475569"/>
                </a:solidFill>
                <a:latin typeface="Arial"/>
              </a:rPr>
              <a:t>Synchronized MPU-6050 dual-axis inclination (±0.05° precision) and linear crack extensometers continuously recording ground deformation.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Edge AI Saito Inverse-Velocity Prediction: </a:t>
            </a:r>
            <a:r>
              <a:rPr sz="1550">
                <a:solidFill>
                  <a:srgbClr val="475569"/>
                </a:solidFill>
                <a:latin typeface="Arial"/>
              </a:rPr>
              <a:t>Real-time failure forecasting running on-chip (1/v -&gt; 0); calculates exact Time-to-Failure (Tf) hours ahead of ground collapse.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Ultra Low-Cost Resilient Mesh Architecture: </a:t>
            </a:r>
            <a:r>
              <a:rPr sz="1550">
                <a:solidFill>
                  <a:srgbClr val="475569"/>
                </a:solidFill>
                <a:latin typeface="Arial"/>
              </a:rPr>
              <a:t>Sub-₹2,500 per node with 868MHz long-range LoRa P2P mesh; solar MPPT + LiFePO4 battery ensuring 35-day uninterrupted off-grid autonomy.</a:t>
            </a:r>
          </a:p>
          <a:p>
            <a:pPr>
              <a:spcAft>
                <a:spcPts val="1100"/>
              </a:spcAft>
            </a:pPr>
            <a:r>
              <a:rPr sz="1650" b="1">
                <a:solidFill>
                  <a:srgbClr val="0F172A"/>
                </a:solidFill>
                <a:latin typeface="Arial"/>
              </a:rPr>
              <a:t>• Autonomous Fail-Safe Life Safety Dispatch: </a:t>
            </a:r>
            <a:r>
              <a:rPr sz="1550">
                <a:solidFill>
                  <a:srgbClr val="475569"/>
                </a:solidFill>
                <a:latin typeface="Arial"/>
              </a:rPr>
              <a:t>Direct hardwired relay trip to pithead sirens (&lt;100ms) with zero cloud dependency, backed by localized multi-lingual SMS evacuation geo-fencing.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818120"/>
            <a:ext cx="16824960" cy="14630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0" rIns="457200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Arial"/>
              </a:rPr>
              <a:t>THE CRITICAL GAP IDENTIFIED</a:t>
            </a:r>
          </a:p>
          <a:p>
            <a:pPr algn="ctr"/>
            <a:r>
              <a:rPr sz="2100" b="1">
                <a:solidFill>
                  <a:srgbClr val="1F497D"/>
                </a:solidFill>
                <a:latin typeface="Times New Roman"/>
              </a:rPr>
              <a:t>"Absence of continuous, real-time subsurface monitoring capable of automated early warning and collapse prediction before catastrophic ground failure occurs."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20040"/>
            <a:ext cx="201168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C2D91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500" b="1">
                <a:solidFill>
                  <a:srgbClr val="5C2D91"/>
                </a:solidFill>
                <a:latin typeface="Arial"/>
              </a:defRPr>
            </a:pPr>
            <a:r>
              <a:t>MineNova6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1188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clean_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0" y="274320"/>
            <a:ext cx="2560320" cy="1146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64692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280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82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u="sng">
                <a:solidFill>
                  <a:srgbClr val="006FC0"/>
                </a:solidFill>
                <a:latin typeface="Arial"/>
              </a:defRPr>
            </a:pPr>
            <a:r>
              <a:t>❖ Technologies to be used &amp; Process Workflow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39496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t>1. GEOTECHNICAL STRATA MODELING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Barakar Sandstone Flexure: </a:t>
            </a:r>
            <a:r>
              <a:rPr sz="1350">
                <a:solidFill>
                  <a:srgbClr val="475569"/>
                </a:solidFill>
                <a:latin typeface="Arial"/>
              </a:rPr>
              <a:t>180m depth goaf extraction void collapse.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Knothe Subsidence Formulation: </a:t>
            </a:r>
            <a:r>
              <a:rPr sz="1350">
                <a:solidFill>
                  <a:srgbClr val="475569"/>
                </a:solidFill>
                <a:latin typeface="Arial"/>
              </a:rPr>
              <a:t>S(x) = Smax · [0.5 - 0.5 · erf(√π · x / R)].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Strain &amp; Curvature Analysis: </a:t>
            </a:r>
            <a:r>
              <a:rPr sz="1350">
                <a:solidFill>
                  <a:srgbClr val="475569"/>
                </a:solidFill>
                <a:latin typeface="Arial"/>
              </a:rPr>
              <a:t>Predicts surface tensile fissures &amp; inflection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103120"/>
            <a:ext cx="539496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rPr dirty="0"/>
              <a:t>2. 4-TIER WORKFLOW MIND MAP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• Layer 1 (Sensing): </a:t>
            </a:r>
            <a:r>
              <a:rPr sz="1350" dirty="0">
                <a:solidFill>
                  <a:srgbClr val="475569"/>
                </a:solidFill>
                <a:latin typeface="Arial"/>
              </a:rPr>
              <a:t>100Hz IMU tilt &amp; linear crack dilation.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• Layer 2 (Mesh): </a:t>
            </a:r>
            <a:r>
              <a:rPr sz="1350" dirty="0">
                <a:solidFill>
                  <a:srgbClr val="475569"/>
                </a:solidFill>
                <a:latin typeface="Arial"/>
              </a:rPr>
              <a:t>868MHz LoRa mesh with 72h offline SPI buffer.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• Layer 3 (Edge AI): </a:t>
            </a:r>
            <a:r>
              <a:rPr sz="1350" dirty="0">
                <a:solidFill>
                  <a:srgbClr val="475569"/>
                </a:solidFill>
                <a:latin typeface="Arial"/>
              </a:rPr>
              <a:t>Saito 1/v -&gt; 0 prediction &amp; 3-layer dumper filter.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• Layer 4 (Life Safety): </a:t>
            </a:r>
            <a:r>
              <a:rPr sz="1350" dirty="0">
                <a:solidFill>
                  <a:srgbClr val="475569"/>
                </a:solidFill>
                <a:latin typeface="Arial"/>
              </a:rPr>
              <a:t>Direct pithead sirens &amp; geo-fenced 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0" y="2103120"/>
            <a:ext cx="539496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t>3. PROTOTYPE HARDWARE RIG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ESP32 Dual-Core (240MHz): </a:t>
            </a:r>
            <a:r>
              <a:rPr sz="1350">
                <a:solidFill>
                  <a:srgbClr val="475569"/>
                </a:solidFill>
                <a:latin typeface="Arial"/>
              </a:rPr>
              <a:t>Core 0: LoRa Mesh; Core 1: 100Hz DSP &amp; AI.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MPU-6050 &amp; Extensometer: </a:t>
            </a:r>
            <a:r>
              <a:rPr sz="1350">
                <a:solidFill>
                  <a:srgbClr val="475569"/>
                </a:solidFill>
                <a:latin typeface="Arial"/>
              </a:rPr>
              <a:t>±0.05° tilt &amp; 0.01mm dilation ADC resolution.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• Dumper Vibration Rejection: </a:t>
            </a:r>
            <a:r>
              <a:rPr sz="1350">
                <a:solidFill>
                  <a:srgbClr val="475569"/>
                </a:solidFill>
                <a:latin typeface="Arial"/>
              </a:rPr>
              <a:t>15-50Hz notch filter eliminates truck tremors.</a:t>
            </a:r>
          </a:p>
        </p:txBody>
      </p:sp>
      <p:pic>
        <p:nvPicPr>
          <p:cNvPr id="15" name="Picture 14" descr="workflow_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10" y="4754880"/>
            <a:ext cx="10780603" cy="4892040"/>
          </a:xfrm>
          <a:prstGeom prst="rect">
            <a:avLst/>
          </a:prstGeom>
        </p:spPr>
      </p:pic>
      <p:pic>
        <p:nvPicPr>
          <p:cNvPr id="17" name="Picture 16" descr="hardware_architecture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763" y="5516369"/>
            <a:ext cx="7638237" cy="3780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20040"/>
            <a:ext cx="201168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C2D91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500" b="1">
                <a:solidFill>
                  <a:srgbClr val="5C2D91"/>
                </a:solidFill>
                <a:latin typeface="Arial"/>
              </a:defRPr>
            </a:pPr>
            <a:r>
              <a:t>MineNova6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1188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clean_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0" y="274320"/>
            <a:ext cx="2560320" cy="1146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64692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280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82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u="sng">
                <a:solidFill>
                  <a:srgbClr val="006FC0"/>
                </a:solidFill>
                <a:latin typeface="Arial"/>
              </a:defRPr>
            </a:pPr>
            <a:r>
              <a:t>❖ Analysis of Feasibility, Potential Challenges &amp; Overcoming Engineering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8229600" cy="4846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900" b="1">
                <a:solidFill>
                  <a:srgbClr val="DC2626"/>
                </a:solidFill>
                <a:latin typeface="Arial"/>
              </a:defRPr>
            </a:pPr>
            <a:r>
              <a:t>POTENTIAL CHALLENGES &amp; OPERATIONAL RISKS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Extreme Open-Cast Environment: </a:t>
            </a:r>
            <a:r>
              <a:rPr sz="1500">
                <a:solidFill>
                  <a:srgbClr val="475569"/>
                </a:solidFill>
                <a:latin typeface="Arial"/>
              </a:rPr>
              <a:t>Heavy airborne coal dust, corrosive acidic mine drainage, monsoon downpours, and -5°C to 50°C thermal shifts.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Deep Mine RF Shadowing &amp; Remote Belts: </a:t>
            </a:r>
            <a:r>
              <a:rPr sz="1500">
                <a:solidFill>
                  <a:srgbClr val="475569"/>
                </a:solidFill>
                <a:latin typeface="Arial"/>
              </a:rPr>
              <a:t>High pit benches and remote overburden dumps lack cellular (4G/5G) mobile connectivity and direct line-of-sight.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Heavy Machinery False Positives: </a:t>
            </a:r>
            <a:r>
              <a:rPr sz="1500">
                <a:solidFill>
                  <a:srgbClr val="475569"/>
                </a:solidFill>
                <a:latin typeface="Arial"/>
              </a:rPr>
              <a:t>120-tonne dumpers, shovels, and blasting create high-amplitude surface vibrations mimicking subsidence fissures.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Power Grid Absence &amp; Remote Maintenance: </a:t>
            </a:r>
            <a:r>
              <a:rPr sz="1500">
                <a:solidFill>
                  <a:srgbClr val="475569"/>
                </a:solidFill>
                <a:latin typeface="Arial"/>
              </a:rPr>
              <a:t>Lack of AC power across active subsidence bowls; high cost and danger of frequent manual battery replacements.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148840"/>
            <a:ext cx="8229600" cy="4846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900" b="1">
                <a:solidFill>
                  <a:srgbClr val="16A34A"/>
                </a:solidFill>
                <a:latin typeface="Arial"/>
              </a:defRPr>
            </a:pPr>
            <a:r>
              <a:t>ENGINEERING STRATEGIES TO OVERCOME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IP67 Rugged Enclosure + Gore-Tex Vent: </a:t>
            </a:r>
            <a:r>
              <a:rPr sz="1500">
                <a:solidFill>
                  <a:srgbClr val="475569"/>
                </a:solidFill>
                <a:latin typeface="Arial"/>
              </a:rPr>
              <a:t>Hermetically sealed ABS housing with hydrophobic Gore-Tex breather membrane prevents internal condensation and dust entry.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Multi-Hop 868MHz LoRa Mesh + SPI Buffer: </a:t>
            </a:r>
            <a:r>
              <a:rPr sz="1500">
                <a:solidFill>
                  <a:srgbClr val="475569"/>
                </a:solidFill>
                <a:latin typeface="Arial"/>
              </a:rPr>
              <a:t>Dynamic packet leapfrogging across node mesh with 72-hour offline SPI flash ring buffer ensuring 0% data loss during outages.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3-Layer Edge DSP Noise Rejection: </a:t>
            </a:r>
            <a:r>
              <a:rPr sz="1500">
                <a:solidFill>
                  <a:srgbClr val="475569"/>
                </a:solidFill>
                <a:latin typeface="Arial"/>
              </a:rPr>
              <a:t>Digital bandstop notch filter (15-50Hz truck harmonics) + 3.5s tilt persistence verification reliably eliminates false alarms.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Solar MPPT + 6000mAh LiFePO4 Chemistry: </a:t>
            </a:r>
            <a:r>
              <a:rPr sz="1500">
                <a:solidFill>
                  <a:srgbClr val="475569"/>
                </a:solidFill>
                <a:latin typeface="Arial"/>
              </a:rPr>
              <a:t>Integrated mono-crystalline solar harvesting with LiFePO4 cells delivering 35 days of continuous power without direct sunlight.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269480"/>
            <a:ext cx="5303520" cy="2011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Arial"/>
              </a:defRPr>
            </a:pPr>
            <a:r>
              <a:t>CAPEX VIABILITY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₹2,100 Per Node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95%+ cost reduction compared to ₹50L+ imported extensometer/micro-seismic arrays, enabling dense grid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7269480"/>
            <a:ext cx="5303520" cy="2011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0D9488"/>
                </a:solidFill>
                <a:latin typeface="Arial"/>
              </a:defRPr>
            </a:pPr>
            <a:r>
              <a:t>DEPLOYMENT FEASIBILITY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&lt; 10 Mins / Node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Quick-mount universal ground stakes &amp; magnetic clamp anchors allow rapid setup with zero trenching or drilling.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252960" y="7269480"/>
            <a:ext cx="5303520" cy="2011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7C3AED"/>
                </a:solidFill>
                <a:latin typeface="Arial"/>
              </a:defRPr>
            </a:pPr>
            <a:r>
              <a:t>OPERATIONAL LONGEVITY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5+ Years Lifespan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Industrial-grade LiFePO4 cells (2000+ cycles) and UV-stabilized IP67 housing ensure multi-year zero-maintenance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20040"/>
            <a:ext cx="201168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C2D91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500" b="1">
                <a:solidFill>
                  <a:srgbClr val="5C2D91"/>
                </a:solidFill>
                <a:latin typeface="Arial"/>
              </a:defRPr>
            </a:pPr>
            <a:r>
              <a:t>MineNova6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1188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clean_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0" y="274320"/>
            <a:ext cx="2560320" cy="1146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64692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280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82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u="sng">
                <a:solidFill>
                  <a:srgbClr val="006FC0"/>
                </a:solidFill>
                <a:latin typeface="Arial"/>
              </a:defRPr>
            </a:pPr>
            <a:r>
              <a:t>❖ Potential Impact on Target Audience &amp; Quantifiable Multi-Dimensional 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82296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DC2626"/>
                </a:solidFill>
                <a:latin typeface="Arial"/>
              </a:defRPr>
            </a:pPr>
            <a:r>
              <a:t>1. SOCIAL &amp; HUMANITARIAN IMPACT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Zero-Fatality Mandate: </a:t>
            </a:r>
            <a:r>
              <a:rPr sz="1350">
                <a:solidFill>
                  <a:srgbClr val="475569"/>
                </a:solidFill>
                <a:latin typeface="Arial"/>
              </a:rPr>
              <a:t>Directly addresses 370+ historical coalfield subsidence fatalities in Jharia, Raniganj, and Dhanbad.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400,000+ Civilians Protected: </a:t>
            </a:r>
            <a:r>
              <a:rPr sz="1350">
                <a:solidFill>
                  <a:srgbClr val="475569"/>
                </a:solidFill>
                <a:latin typeface="Arial"/>
              </a:rPr>
              <a:t>Safeguards dense township populations residing above unmapped, aging British-era coal voids.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2 to 6 Hour Evacuation Buffer: </a:t>
            </a:r>
            <a:r>
              <a:rPr sz="1350">
                <a:solidFill>
                  <a:srgbClr val="475569"/>
                </a:solidFill>
                <a:latin typeface="Arial"/>
              </a:rPr>
              <a:t>Provides actionable early warning via Saito inverse-velocity inflection modeling before ground failure occurs.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Surveyor Hazard Elimination: </a:t>
            </a:r>
            <a:r>
              <a:rPr sz="1350">
                <a:solidFill>
                  <a:srgbClr val="475569"/>
                </a:solidFill>
                <a:latin typeface="Arial"/>
              </a:rPr>
              <a:t>Autonomous wireless mesh eliminates the need for human survey crews to walk over active tension fissures.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148840"/>
            <a:ext cx="82296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Arial"/>
              </a:defRPr>
            </a:pPr>
            <a:r>
              <a:t>2. ECONOMIC &amp; INFRASTRUCTURE PROTECTION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Prevention of Railway Closures: </a:t>
            </a:r>
            <a:r>
              <a:rPr sz="1350">
                <a:solidFill>
                  <a:srgbClr val="475569"/>
                </a:solidFill>
                <a:latin typeface="Arial"/>
              </a:rPr>
              <a:t>Safeguards critical transport corridors like the ₹1,500 Crore Dhanbad-Chandrapura railway line shutdown.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Highway &amp; Power Pylon Safety: </a:t>
            </a:r>
            <a:r>
              <a:rPr sz="1350">
                <a:solidFill>
                  <a:srgbClr val="475569"/>
                </a:solidFill>
                <a:latin typeface="Arial"/>
              </a:rPr>
              <a:t>Continuous real-time strain monitoring along National Highways (NH-19) and high-voltage transmission lines.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Mineral Sterilisation Prevention: </a:t>
            </a:r>
            <a:r>
              <a:rPr sz="1350">
                <a:solidFill>
                  <a:srgbClr val="475569"/>
                </a:solidFill>
                <a:latin typeface="Arial"/>
              </a:rPr>
              <a:t>Enables safe depillaring operations, unlocking millions of tonnes of coal previously locked in safety barriers.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95%+ Capex Savings for Coal India: </a:t>
            </a:r>
            <a:r>
              <a:rPr sz="1350">
                <a:solidFill>
                  <a:srgbClr val="475569"/>
                </a:solidFill>
                <a:latin typeface="Arial"/>
              </a:rPr>
              <a:t>Sub-₹2,500 cost per node saves ₹45+ Lakhs per monitoring panel compared to imported micro-seismic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8229600" cy="3383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6A34A"/>
                </a:solidFill>
                <a:latin typeface="Arial"/>
              </a:defRPr>
            </a:pPr>
            <a:r>
              <a:t>3. ENVIRONMENTAL PRESERVATION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Subsurface Coal Fire Mitigation: </a:t>
            </a:r>
            <a:r>
              <a:rPr sz="1350">
                <a:solidFill>
                  <a:srgbClr val="475569"/>
                </a:solidFill>
                <a:latin typeface="Arial"/>
              </a:rPr>
              <a:t>Detects surface tensile fissures instantly, enabling prompt clay sealing before oxygen fuels underground coal seam fires.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Groundwater Aquifer Protection: </a:t>
            </a:r>
            <a:r>
              <a:rPr sz="1350">
                <a:solidFill>
                  <a:srgbClr val="475569"/>
                </a:solidFill>
                <a:latin typeface="Arial"/>
              </a:rPr>
              <a:t>Prevents rupture of overlying water tables and localized drying of surface drinking borewells in mining belts.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Overburden Dump Slope Stability: </a:t>
            </a:r>
            <a:r>
              <a:rPr sz="1350">
                <a:solidFill>
                  <a:srgbClr val="475569"/>
                </a:solidFill>
                <a:latin typeface="Arial"/>
              </a:rPr>
              <a:t>Continuous tilt tracking on 40m+ overburden waste dumps prevents catastrophic monsoon-induced landslides.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5989320"/>
            <a:ext cx="8229600" cy="3383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Arial"/>
              </a:defRPr>
            </a:pPr>
            <a:r>
              <a:t>4. REGULATORY &amp; STATUTORY COMPLIANCE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DGMS Tech Circular No. 2 (1987): </a:t>
            </a:r>
            <a:r>
              <a:rPr sz="1350">
                <a:solidFill>
                  <a:srgbClr val="475569"/>
                </a:solidFill>
                <a:latin typeface="Arial"/>
              </a:rPr>
              <a:t>100% compliance with Directorate General of Mines Safety permissible subsidence, slope, and strain limits.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Coal Mines Regulations (CMR) 2017: </a:t>
            </a:r>
            <a:r>
              <a:rPr sz="1350">
                <a:solidFill>
                  <a:srgbClr val="475569"/>
                </a:solidFill>
                <a:latin typeface="Arial"/>
              </a:rPr>
              <a:t>Automates compliance reporting under Regulations 111 &amp; 112 (Precautions against subsidence and extraction stability).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• Automated Tamper-Evident Audit Trail: </a:t>
            </a:r>
            <a:r>
              <a:rPr sz="1350">
                <a:solidFill>
                  <a:srgbClr val="475569"/>
                </a:solidFill>
                <a:latin typeface="Arial"/>
              </a:rPr>
              <a:t>Immutable digital telemetry records provide Coal India subsidiaries (BCCL, ECL, CCL) with certified safety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20040"/>
            <a:ext cx="201168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C2D91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500" b="1">
                <a:solidFill>
                  <a:srgbClr val="5C2D91"/>
                </a:solidFill>
                <a:latin typeface="Arial"/>
              </a:defRPr>
            </a:pPr>
            <a:r>
              <a:t>MineNova6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11887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clean_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0" y="274320"/>
            <a:ext cx="2560320" cy="11463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9601200"/>
            <a:ext cx="18288000" cy="68580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64692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9646920"/>
            <a:ext cx="1280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82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 u="sng">
                <a:solidFill>
                  <a:srgbClr val="006FC0"/>
                </a:solidFill>
                <a:latin typeface="Arial"/>
              </a:defRPr>
            </a:pPr>
            <a:r>
              <a:t>❖ Statutory Mining Standards, Geotechnical Literature &amp; Field Case Studies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6824960" cy="7132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365760" rIns="54864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[1] </a:t>
            </a:r>
            <a:r>
              <a:rPr sz="1700" b="1">
                <a:solidFill>
                  <a:srgbClr val="1F497D"/>
                </a:solidFill>
                <a:latin typeface="Arial"/>
              </a:rPr>
              <a:t>Directorate General of Mines Safety (DGMS) – </a:t>
            </a:r>
            <a:r>
              <a:rPr sz="1600">
                <a:solidFill>
                  <a:srgbClr val="0F172A"/>
                </a:solidFill>
                <a:latin typeface="Calibri"/>
              </a:rPr>
              <a:t>Technical Circular No. 2 of 1987: Permissible Limits of Surface Subsidence, Slope, and Strain over Underground Coal Workings in Indian Coalfields, Dhanbad, Ministry of Labour and Employment, Govt. of India.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[2] </a:t>
            </a:r>
            <a:r>
              <a:rPr sz="1700" b="1">
                <a:solidFill>
                  <a:srgbClr val="1F497D"/>
                </a:solidFill>
                <a:latin typeface="Arial"/>
              </a:rPr>
              <a:t>CSIR-Central Institute of Mining &amp; Fuel Research (CIMFR) – </a:t>
            </a:r>
            <a:r>
              <a:rPr sz="1600">
                <a:solidFill>
                  <a:srgbClr val="0F172A"/>
                </a:solidFill>
                <a:latin typeface="Calibri"/>
              </a:rPr>
              <a:t>Guidelines on Subsidence Prediction, Slope Stability &amp; Strata Control in Bord &amp; Pillar and Longwall Extractions in Raniganj and Jharia Coalfields, CSIR-CIMFR Dhanbad, Jharkhand.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[3] </a:t>
            </a:r>
            <a:r>
              <a:rPr sz="1700" b="1">
                <a:solidFill>
                  <a:srgbClr val="1F497D"/>
                </a:solidFill>
                <a:latin typeface="Arial"/>
              </a:rPr>
              <a:t>Knothe, S. (1957) – </a:t>
            </a:r>
            <a:r>
              <a:rPr sz="1600">
                <a:solidFill>
                  <a:srgbClr val="0F172A"/>
                </a:solidFill>
                <a:latin typeface="Calibri"/>
              </a:rPr>
              <a:t>Observations of Surface Movements Under the Influence of Mining and Their Theoretical Interpretation, Proceedings of the European Congress on Ground Movement, Leeds, pp. 210–218.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[4] </a:t>
            </a:r>
            <a:r>
              <a:rPr sz="1700" b="1">
                <a:solidFill>
                  <a:srgbClr val="1F497D"/>
                </a:solidFill>
                <a:latin typeface="Arial"/>
              </a:rPr>
              <a:t>Saito, M. (1969) &amp; Fukuzono, T. (1985) – </a:t>
            </a:r>
            <a:r>
              <a:rPr sz="1600">
                <a:solidFill>
                  <a:srgbClr val="0F172A"/>
                </a:solidFill>
                <a:latin typeface="Calibri"/>
              </a:rPr>
              <a:t>Forecasting Time of Slope and Ground Failure by Inverse-Velocity Method, Japanese Geotechnical Society / Soils and Foundations, Vol. 25, No. 2, pp. 26–40.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[5] </a:t>
            </a:r>
            <a:r>
              <a:rPr sz="1700" b="1">
                <a:solidFill>
                  <a:srgbClr val="1F497D"/>
                </a:solidFill>
                <a:latin typeface="Arial"/>
              </a:rPr>
              <a:t>Ministry of Coal, Government of India – </a:t>
            </a:r>
            <a:r>
              <a:rPr sz="1600">
                <a:solidFill>
                  <a:srgbClr val="0F172A"/>
                </a:solidFill>
                <a:latin typeface="Calibri"/>
              </a:rPr>
              <a:t>Coal Mines Regulations (CMR) 2017 – Regulations 111 &amp; 112: Stability of Workings, Precautions Against Subsidence, and Depillaring Approvals.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[6] </a:t>
            </a:r>
            <a:r>
              <a:rPr sz="1700" b="1">
                <a:solidFill>
                  <a:srgbClr val="1F497D"/>
                </a:solidFill>
                <a:latin typeface="Arial"/>
              </a:rPr>
              <a:t>Indian Road Congress (IRC:SP:106-2015) &amp; NHAI – </a:t>
            </a:r>
            <a:r>
              <a:rPr sz="1600">
                <a:solidFill>
                  <a:srgbClr val="0F172A"/>
                </a:solidFill>
                <a:latin typeface="Calibri"/>
              </a:rPr>
              <a:t>Engineering Guidelines for Infrastructure Construction and Subsidence Monitoring in Undermined and Subsidence-Prone Coal Belts.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FC0"/>
                </a:solidFill>
                <a:latin typeface="Arial"/>
              </a:rPr>
              <a:t>[7] </a:t>
            </a:r>
            <a:r>
              <a:rPr sz="1700" b="1">
                <a:solidFill>
                  <a:srgbClr val="1F497D"/>
                </a:solidFill>
                <a:latin typeface="Arial"/>
              </a:rPr>
              <a:t>Jharia Coalfield Master Plan (2021–2030) – </a:t>
            </a:r>
            <a:r>
              <a:rPr sz="1600">
                <a:solidFill>
                  <a:srgbClr val="0F172A"/>
                </a:solidFill>
                <a:latin typeface="Calibri"/>
              </a:rPr>
              <a:t>High-Level Committee Action Report on Fire, Subsidence, and Environmental Rehabilitation in Leasehold Areas of BCCL and ECL, Ministry of Coal, Govt. of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1566</Words>
  <Application>Microsoft Office PowerPoint</Application>
  <PresentationFormat>Custom</PresentationFormat>
  <Paragraphs>110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Roboto Condensed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Zayyan</cp:lastModifiedBy>
  <cp:revision>2</cp:revision>
  <dcterms:created xsi:type="dcterms:W3CDTF">2013-01-27T09:14:16Z</dcterms:created>
  <dcterms:modified xsi:type="dcterms:W3CDTF">2026-09-11T14:42:41Z</dcterms:modified>
  <cp:category/>
</cp:coreProperties>
</file>